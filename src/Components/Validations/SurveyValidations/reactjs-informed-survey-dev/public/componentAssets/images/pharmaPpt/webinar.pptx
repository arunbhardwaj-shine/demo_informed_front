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71421D-D7E1-4104-9B58-A95B84ED8C72}" v="1" dt="2023-10-17T12:10:55.1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Webinar Portal</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69551"/>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Transform your webinars into events with creative freedom and engagement tools that resonate and make HCPs feel appreciated and involved. Convert recordings into invaluable content that can be distributed in user-friendly formats, which stimulate post-event engagement and build stronger HCP relationships.</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latin typeface="Roboto" panose="02000000000000000000" pitchFamily="2" charset="0"/>
                <a:ea typeface="Roboto" panose="02000000000000000000" pitchFamily="2" charset="0"/>
              </a:rPr>
              <a:t>Webinar Portal</a:t>
            </a:r>
            <a:endParaRPr lang="en-US" sz="2000" b="1" dirty="0">
              <a:solidFill>
                <a:srgbClr val="0066BE"/>
              </a:solidFill>
              <a:latin typeface="Roboto" panose="02000000000000000000" pitchFamily="2" charset="0"/>
              <a:ea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476465" cy="4131900"/>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Online webinar platform HCPs love to use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Register and capture </a:t>
            </a:r>
            <a:r>
              <a:rPr lang="en-GB" sz="1200" dirty="0" err="1">
                <a:solidFill>
                  <a:schemeClr val="bg1"/>
                </a:solidFill>
                <a:latin typeface="Roboto" panose="02000000000000000000" pitchFamily="2" charset="0"/>
                <a:ea typeface="Roboto" panose="02000000000000000000" pitchFamily="2" charset="0"/>
              </a:rPr>
              <a:t>HCPs’</a:t>
            </a:r>
            <a:r>
              <a:rPr lang="en-GB" sz="1200" dirty="0">
                <a:solidFill>
                  <a:schemeClr val="bg1"/>
                </a:solidFill>
                <a:latin typeface="Roboto" panose="02000000000000000000" pitchFamily="2" charset="0"/>
                <a:ea typeface="Roboto" panose="02000000000000000000" pitchFamily="2" charset="0"/>
              </a:rPr>
              <a:t> consent </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Automated calendar reminders help HCPs arrive on time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Automated personalised emails, with single-click-login, ensure easy access for HCPs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Take your interaction to the next level by allowing HCPs to ask real-time questions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Learn who stayed and engaged to improve your data for AI Predictions</a:t>
            </a:r>
            <a:endParaRPr lang="en-US" sz="1200" dirty="0">
              <a:solidFill>
                <a:schemeClr val="bg1"/>
              </a:solidFill>
              <a:latin typeface="Roboto" panose="02000000000000000000" pitchFamily="2" charset="0"/>
              <a:ea typeface="Roboto" panose="02000000000000000000" pitchFamily="2" charset="0"/>
            </a:endParaRPr>
          </a:p>
        </p:txBody>
      </p:sp>
      <p:grpSp>
        <p:nvGrpSpPr>
          <p:cNvPr id="23" name="Group 22">
            <a:extLst>
              <a:ext uri="{FF2B5EF4-FFF2-40B4-BE49-F238E27FC236}">
                <a16:creationId xmlns:a16="http://schemas.microsoft.com/office/drawing/2014/main" id="{249FF8F4-E1AA-EFB1-5B0F-DD1BB8BE1044}"/>
              </a:ext>
            </a:extLst>
          </p:cNvPr>
          <p:cNvGrpSpPr/>
          <p:nvPr/>
        </p:nvGrpSpPr>
        <p:grpSpPr>
          <a:xfrm>
            <a:off x="4063904" y="5872509"/>
            <a:ext cx="676656" cy="658368"/>
            <a:chOff x="3601278" y="4955825"/>
            <a:chExt cx="676656" cy="658368"/>
          </a:xfrm>
        </p:grpSpPr>
        <p:grpSp>
          <p:nvGrpSpPr>
            <p:cNvPr id="24" name="Group 23">
              <a:extLst>
                <a:ext uri="{FF2B5EF4-FFF2-40B4-BE49-F238E27FC236}">
                  <a16:creationId xmlns:a16="http://schemas.microsoft.com/office/drawing/2014/main" id="{107067EF-D1C9-8EB2-DA12-C5E25757ABF8}"/>
                </a:ext>
              </a:extLst>
            </p:cNvPr>
            <p:cNvGrpSpPr/>
            <p:nvPr/>
          </p:nvGrpSpPr>
          <p:grpSpPr>
            <a:xfrm>
              <a:off x="3615755" y="4955825"/>
              <a:ext cx="658368" cy="658368"/>
              <a:chOff x="2717229" y="4899401"/>
              <a:chExt cx="658368" cy="658368"/>
            </a:xfrm>
          </p:grpSpPr>
          <p:sp>
            <p:nvSpPr>
              <p:cNvPr id="27" name="Oval 26">
                <a:extLst>
                  <a:ext uri="{FF2B5EF4-FFF2-40B4-BE49-F238E27FC236}">
                    <a16:creationId xmlns:a16="http://schemas.microsoft.com/office/drawing/2014/main" id="{EA46935A-657C-D63B-6E4C-FF2A6C8EABC2}"/>
                  </a:ext>
                </a:extLst>
              </p:cNvPr>
              <p:cNvSpPr/>
              <p:nvPr/>
            </p:nvSpPr>
            <p:spPr>
              <a:xfrm>
                <a:off x="2753805" y="4935977"/>
                <a:ext cx="585216" cy="585216"/>
              </a:xfrm>
              <a:prstGeom prst="ellipse">
                <a:avLst/>
              </a:prstGeom>
              <a:solidFill>
                <a:srgbClr val="045FAE"/>
              </a:solidFill>
              <a:ln>
                <a:noFill/>
              </a:ln>
              <a:effectLst>
                <a:outerShdw blurRad="63500" sx="103000" sy="103000" algn="ctr" rotWithShape="0">
                  <a:srgbClr val="045FA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7D2CB96-8409-D57B-3FE0-34093707826A}"/>
                  </a:ext>
                </a:extLst>
              </p:cNvPr>
              <p:cNvSpPr/>
              <p:nvPr/>
            </p:nvSpPr>
            <p:spPr>
              <a:xfrm>
                <a:off x="2717229" y="4899401"/>
                <a:ext cx="658368" cy="658368"/>
              </a:xfrm>
              <a:prstGeom prst="ellipse">
                <a:avLst/>
              </a:prstGeom>
              <a:noFill/>
              <a:ln w="6350">
                <a:solidFill>
                  <a:srgbClr val="045FA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3E5E124B-12BE-E1B0-3197-B9C1D00807C7}"/>
                </a:ext>
              </a:extLst>
            </p:cNvPr>
            <p:cNvSpPr txBox="1"/>
            <p:nvPr/>
          </p:nvSpPr>
          <p:spPr>
            <a:xfrm>
              <a:off x="3601278" y="5267884"/>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inforMedGo</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26" name="Graphic 25">
              <a:extLst>
                <a:ext uri="{FF2B5EF4-FFF2-40B4-BE49-F238E27FC236}">
                  <a16:creationId xmlns:a16="http://schemas.microsoft.com/office/drawing/2014/main" id="{80C60146-3561-2671-3A41-13F9770F8E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39022" y="5052271"/>
              <a:ext cx="201168" cy="201168"/>
            </a:xfrm>
            <a:prstGeom prst="rect">
              <a:avLst/>
            </a:prstGeom>
          </p:spPr>
        </p:pic>
      </p:grpSp>
      <p:grpSp>
        <p:nvGrpSpPr>
          <p:cNvPr id="29" name="Group 28">
            <a:extLst>
              <a:ext uri="{FF2B5EF4-FFF2-40B4-BE49-F238E27FC236}">
                <a16:creationId xmlns:a16="http://schemas.microsoft.com/office/drawing/2014/main" id="{B3BEF952-D96F-EF01-7CCF-8EA4555E880B}"/>
              </a:ext>
            </a:extLst>
          </p:cNvPr>
          <p:cNvGrpSpPr/>
          <p:nvPr/>
        </p:nvGrpSpPr>
        <p:grpSpPr>
          <a:xfrm>
            <a:off x="5581209" y="5872509"/>
            <a:ext cx="676656" cy="658368"/>
            <a:chOff x="5073337" y="4958505"/>
            <a:chExt cx="676656" cy="658368"/>
          </a:xfrm>
        </p:grpSpPr>
        <p:grpSp>
          <p:nvGrpSpPr>
            <p:cNvPr id="30" name="Group 29">
              <a:extLst>
                <a:ext uri="{FF2B5EF4-FFF2-40B4-BE49-F238E27FC236}">
                  <a16:creationId xmlns:a16="http://schemas.microsoft.com/office/drawing/2014/main" id="{27239465-BF7B-50C6-1628-9C185A4E6D7C}"/>
                </a:ext>
              </a:extLst>
            </p:cNvPr>
            <p:cNvGrpSpPr/>
            <p:nvPr/>
          </p:nvGrpSpPr>
          <p:grpSpPr>
            <a:xfrm>
              <a:off x="5082481" y="4958505"/>
              <a:ext cx="658368" cy="658368"/>
              <a:chOff x="2717229" y="4899401"/>
              <a:chExt cx="658368" cy="658368"/>
            </a:xfrm>
          </p:grpSpPr>
          <p:sp>
            <p:nvSpPr>
              <p:cNvPr id="33" name="Oval 32">
                <a:extLst>
                  <a:ext uri="{FF2B5EF4-FFF2-40B4-BE49-F238E27FC236}">
                    <a16:creationId xmlns:a16="http://schemas.microsoft.com/office/drawing/2014/main" id="{D3C0E614-3239-4556-7FB8-7652B65C3759}"/>
                  </a:ext>
                </a:extLst>
              </p:cNvPr>
              <p:cNvSpPr/>
              <p:nvPr/>
            </p:nvSpPr>
            <p:spPr>
              <a:xfrm>
                <a:off x="2753805" y="4935977"/>
                <a:ext cx="585216" cy="585216"/>
              </a:xfrm>
              <a:prstGeom prst="ellipse">
                <a:avLst/>
              </a:prstGeom>
              <a:solidFill>
                <a:srgbClr val="00D4C0"/>
              </a:solidFill>
              <a:ln>
                <a:noFill/>
              </a:ln>
              <a:effectLst>
                <a:outerShdw blurRad="63500" sx="103000" sy="103000" algn="ctr" rotWithShape="0">
                  <a:srgbClr val="00D4C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EAEE0361-07DF-8904-DED1-A3BD4E429A52}"/>
                  </a:ext>
                </a:extLst>
              </p:cNvPr>
              <p:cNvSpPr/>
              <p:nvPr/>
            </p:nvSpPr>
            <p:spPr>
              <a:xfrm>
                <a:off x="2717229" y="4899401"/>
                <a:ext cx="658368" cy="658368"/>
              </a:xfrm>
              <a:prstGeom prst="ellipse">
                <a:avLst/>
              </a:prstGeom>
              <a:noFill/>
              <a:ln w="6350">
                <a:solidFill>
                  <a:srgbClr val="00D4C0"/>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EC87BEB5-2FA8-6A0A-F6A1-69DA095A330B}"/>
                </a:ext>
              </a:extLst>
            </p:cNvPr>
            <p:cNvSpPr txBox="1"/>
            <p:nvPr/>
          </p:nvSpPr>
          <p:spPr>
            <a:xfrm>
              <a:off x="5073337" y="5259201"/>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Automail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2" name="Graphic 31">
              <a:extLst>
                <a:ext uri="{FF2B5EF4-FFF2-40B4-BE49-F238E27FC236}">
                  <a16:creationId xmlns:a16="http://schemas.microsoft.com/office/drawing/2014/main" id="{C09F8B03-89C1-41CC-279B-9BC43D6143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1081" y="5039745"/>
              <a:ext cx="201168" cy="201168"/>
            </a:xfrm>
            <a:prstGeom prst="rect">
              <a:avLst/>
            </a:prstGeom>
          </p:spPr>
        </p:pic>
      </p:grpSp>
      <p:grpSp>
        <p:nvGrpSpPr>
          <p:cNvPr id="35" name="Group 34">
            <a:extLst>
              <a:ext uri="{FF2B5EF4-FFF2-40B4-BE49-F238E27FC236}">
                <a16:creationId xmlns:a16="http://schemas.microsoft.com/office/drawing/2014/main" id="{C90DE62A-22CC-C20D-180A-88D1B5A58876}"/>
              </a:ext>
            </a:extLst>
          </p:cNvPr>
          <p:cNvGrpSpPr/>
          <p:nvPr/>
        </p:nvGrpSpPr>
        <p:grpSpPr>
          <a:xfrm>
            <a:off x="4822557" y="5872509"/>
            <a:ext cx="676656" cy="658368"/>
            <a:chOff x="4328355" y="4958505"/>
            <a:chExt cx="676656" cy="658368"/>
          </a:xfrm>
        </p:grpSpPr>
        <p:grpSp>
          <p:nvGrpSpPr>
            <p:cNvPr id="36" name="Group 35">
              <a:extLst>
                <a:ext uri="{FF2B5EF4-FFF2-40B4-BE49-F238E27FC236}">
                  <a16:creationId xmlns:a16="http://schemas.microsoft.com/office/drawing/2014/main" id="{8BA3B4F5-BA5B-DDBA-098D-CFBB5527DA2C}"/>
                </a:ext>
              </a:extLst>
            </p:cNvPr>
            <p:cNvGrpSpPr/>
            <p:nvPr/>
          </p:nvGrpSpPr>
          <p:grpSpPr>
            <a:xfrm>
              <a:off x="4342958" y="4958505"/>
              <a:ext cx="658368" cy="658368"/>
              <a:chOff x="2717229" y="4899401"/>
              <a:chExt cx="658368" cy="658368"/>
            </a:xfrm>
          </p:grpSpPr>
          <p:sp>
            <p:nvSpPr>
              <p:cNvPr id="39" name="Oval 38">
                <a:extLst>
                  <a:ext uri="{FF2B5EF4-FFF2-40B4-BE49-F238E27FC236}">
                    <a16:creationId xmlns:a16="http://schemas.microsoft.com/office/drawing/2014/main" id="{D48B9D0D-3737-7D04-A951-9049ACB174B9}"/>
                  </a:ext>
                </a:extLst>
              </p:cNvPr>
              <p:cNvSpPr/>
              <p:nvPr/>
            </p:nvSpPr>
            <p:spPr>
              <a:xfrm>
                <a:off x="2753805" y="4935977"/>
                <a:ext cx="585216" cy="585216"/>
              </a:xfrm>
              <a:prstGeom prst="ellipse">
                <a:avLst/>
              </a:prstGeom>
              <a:solidFill>
                <a:srgbClr val="00A4BF"/>
              </a:solidFill>
              <a:ln>
                <a:noFill/>
              </a:ln>
              <a:effectLst>
                <a:outerShdw blurRad="63500" sx="103000" sy="103000" algn="ctr" rotWithShape="0">
                  <a:srgbClr val="00A4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AFF903B2-7884-9F7D-B161-9F3897C6CD37}"/>
                  </a:ext>
                </a:extLst>
              </p:cNvPr>
              <p:cNvSpPr/>
              <p:nvPr/>
            </p:nvSpPr>
            <p:spPr>
              <a:xfrm>
                <a:off x="2717229" y="4899401"/>
                <a:ext cx="658368" cy="658368"/>
              </a:xfrm>
              <a:prstGeom prst="ellipse">
                <a:avLst/>
              </a:prstGeom>
              <a:noFill/>
              <a:ln w="6350">
                <a:solidFill>
                  <a:srgbClr val="00A4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20D04ABD-BEB4-6CB5-19D0-2441566C88C1}"/>
                </a:ext>
              </a:extLst>
            </p:cNvPr>
            <p:cNvSpPr txBox="1"/>
            <p:nvPr/>
          </p:nvSpPr>
          <p:spPr>
            <a:xfrm>
              <a:off x="4328355" y="525756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Consent</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8" name="Graphic 37">
              <a:extLst>
                <a:ext uri="{FF2B5EF4-FFF2-40B4-BE49-F238E27FC236}">
                  <a16:creationId xmlns:a16="http://schemas.microsoft.com/office/drawing/2014/main" id="{0C70865A-FFEE-4B00-2E55-BC72DA36B4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77718" y="5052271"/>
              <a:ext cx="201168" cy="201168"/>
            </a:xfrm>
            <a:prstGeom prst="rect">
              <a:avLst/>
            </a:prstGeom>
          </p:spPr>
        </p:pic>
      </p:grpSp>
      <p:grpSp>
        <p:nvGrpSpPr>
          <p:cNvPr id="41" name="Group 40">
            <a:extLst>
              <a:ext uri="{FF2B5EF4-FFF2-40B4-BE49-F238E27FC236}">
                <a16:creationId xmlns:a16="http://schemas.microsoft.com/office/drawing/2014/main" id="{1781DC61-D201-75BE-3A1A-AF9ADBC38AFE}"/>
              </a:ext>
            </a:extLst>
          </p:cNvPr>
          <p:cNvGrpSpPr/>
          <p:nvPr/>
        </p:nvGrpSpPr>
        <p:grpSpPr>
          <a:xfrm>
            <a:off x="3305251" y="5872509"/>
            <a:ext cx="676656" cy="658368"/>
            <a:chOff x="3081391" y="3371266"/>
            <a:chExt cx="676656" cy="658368"/>
          </a:xfrm>
        </p:grpSpPr>
        <p:grpSp>
          <p:nvGrpSpPr>
            <p:cNvPr id="42" name="Group 41">
              <a:extLst>
                <a:ext uri="{FF2B5EF4-FFF2-40B4-BE49-F238E27FC236}">
                  <a16:creationId xmlns:a16="http://schemas.microsoft.com/office/drawing/2014/main" id="{A087C5A4-8FF3-1A5A-EF5A-E1B2D370DD18}"/>
                </a:ext>
              </a:extLst>
            </p:cNvPr>
            <p:cNvGrpSpPr/>
            <p:nvPr/>
          </p:nvGrpSpPr>
          <p:grpSpPr>
            <a:xfrm>
              <a:off x="3090535" y="3371266"/>
              <a:ext cx="658368" cy="658368"/>
              <a:chOff x="2717229" y="4899401"/>
              <a:chExt cx="658368" cy="658368"/>
            </a:xfrm>
          </p:grpSpPr>
          <p:sp>
            <p:nvSpPr>
              <p:cNvPr id="45" name="Oval 44">
                <a:extLst>
                  <a:ext uri="{FF2B5EF4-FFF2-40B4-BE49-F238E27FC236}">
                    <a16:creationId xmlns:a16="http://schemas.microsoft.com/office/drawing/2014/main" id="{53CB58D9-A56A-33D4-BDA1-B82F7767D8A5}"/>
                  </a:ext>
                </a:extLst>
              </p:cNvPr>
              <p:cNvSpPr/>
              <p:nvPr/>
            </p:nvSpPr>
            <p:spPr>
              <a:xfrm>
                <a:off x="2753805" y="4935977"/>
                <a:ext cx="585216" cy="585216"/>
              </a:xfrm>
              <a:prstGeom prst="ellipse">
                <a:avLst/>
              </a:prstGeom>
              <a:solidFill>
                <a:srgbClr val="8A4E9C"/>
              </a:solidFill>
              <a:ln>
                <a:noFill/>
              </a:ln>
              <a:effectLst>
                <a:outerShdw blurRad="63500" sx="103000" sy="103000" algn="ctr" rotWithShape="0">
                  <a:srgbClr val="8A4E9C"/>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E0D29595-E598-4FAF-D80E-9E5E379908A6}"/>
                  </a:ext>
                </a:extLst>
              </p:cNvPr>
              <p:cNvSpPr/>
              <p:nvPr/>
            </p:nvSpPr>
            <p:spPr>
              <a:xfrm>
                <a:off x="2717229" y="4899401"/>
                <a:ext cx="658368" cy="658368"/>
              </a:xfrm>
              <a:prstGeom prst="ellipse">
                <a:avLst/>
              </a:prstGeom>
              <a:noFill/>
              <a:ln w="6350">
                <a:solidFill>
                  <a:srgbClr val="8A4E9C"/>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TextBox 42">
              <a:extLst>
                <a:ext uri="{FF2B5EF4-FFF2-40B4-BE49-F238E27FC236}">
                  <a16:creationId xmlns:a16="http://schemas.microsoft.com/office/drawing/2014/main" id="{E39137B0-6E4B-9AC8-FC90-41395BE67EB5}"/>
                </a:ext>
              </a:extLst>
            </p:cNvPr>
            <p:cNvSpPr txBox="1"/>
            <p:nvPr/>
          </p:nvSpPr>
          <p:spPr>
            <a:xfrm>
              <a:off x="3081391" y="3671962"/>
              <a:ext cx="676656" cy="276999"/>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Webinar Portal</a:t>
              </a:r>
            </a:p>
          </p:txBody>
        </p:sp>
        <p:pic>
          <p:nvPicPr>
            <p:cNvPr id="44" name="Graphic 43">
              <a:extLst>
                <a:ext uri="{FF2B5EF4-FFF2-40B4-BE49-F238E27FC236}">
                  <a16:creationId xmlns:a16="http://schemas.microsoft.com/office/drawing/2014/main" id="{24C09701-DF14-E39E-7E75-19961C2D933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9135" y="3484929"/>
              <a:ext cx="201168" cy="201168"/>
            </a:xfrm>
            <a:prstGeom prst="rect">
              <a:avLst/>
            </a:prstGeom>
          </p:spPr>
        </p:pic>
      </p:grpSp>
      <p:grpSp>
        <p:nvGrpSpPr>
          <p:cNvPr id="47" name="Group 46">
            <a:extLst>
              <a:ext uri="{FF2B5EF4-FFF2-40B4-BE49-F238E27FC236}">
                <a16:creationId xmlns:a16="http://schemas.microsoft.com/office/drawing/2014/main" id="{25696D85-3C51-7CE3-CB7B-1C3D6062668E}"/>
              </a:ext>
            </a:extLst>
          </p:cNvPr>
          <p:cNvGrpSpPr/>
          <p:nvPr/>
        </p:nvGrpSpPr>
        <p:grpSpPr>
          <a:xfrm>
            <a:off x="2546598" y="5872509"/>
            <a:ext cx="676656" cy="658368"/>
            <a:chOff x="2144967" y="4958505"/>
            <a:chExt cx="676656" cy="658368"/>
          </a:xfrm>
        </p:grpSpPr>
        <p:grpSp>
          <p:nvGrpSpPr>
            <p:cNvPr id="48" name="Group 47">
              <a:extLst>
                <a:ext uri="{FF2B5EF4-FFF2-40B4-BE49-F238E27FC236}">
                  <a16:creationId xmlns:a16="http://schemas.microsoft.com/office/drawing/2014/main" id="{D7B1E346-FD95-B4A0-A8CF-E7BEB1613792}"/>
                </a:ext>
              </a:extLst>
            </p:cNvPr>
            <p:cNvGrpSpPr/>
            <p:nvPr/>
          </p:nvGrpSpPr>
          <p:grpSpPr>
            <a:xfrm>
              <a:off x="2154111" y="4958505"/>
              <a:ext cx="658368" cy="658368"/>
              <a:chOff x="2717229" y="4899401"/>
              <a:chExt cx="658368" cy="658368"/>
            </a:xfrm>
          </p:grpSpPr>
          <p:sp>
            <p:nvSpPr>
              <p:cNvPr id="51" name="Oval 50">
                <a:extLst>
                  <a:ext uri="{FF2B5EF4-FFF2-40B4-BE49-F238E27FC236}">
                    <a16:creationId xmlns:a16="http://schemas.microsoft.com/office/drawing/2014/main" id="{12887E59-AA6C-8F77-0430-0BB613A8AAF5}"/>
                  </a:ext>
                </a:extLst>
              </p:cNvPr>
              <p:cNvSpPr/>
              <p:nvPr/>
            </p:nvSpPr>
            <p:spPr>
              <a:xfrm>
                <a:off x="2753805" y="4935977"/>
                <a:ext cx="585216" cy="585216"/>
              </a:xfrm>
              <a:prstGeom prst="ellipse">
                <a:avLst/>
              </a:prstGeom>
              <a:solidFill>
                <a:srgbClr val="5A6BB5"/>
              </a:solidFill>
              <a:ln>
                <a:noFill/>
              </a:ln>
              <a:effectLst>
                <a:outerShdw blurRad="63500" sx="103000" sy="103000" algn="ctr" rotWithShape="0">
                  <a:srgbClr val="5A6BB5"/>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5E78D482-3E19-04BA-9F71-E38064706395}"/>
                  </a:ext>
                </a:extLst>
              </p:cNvPr>
              <p:cNvSpPr/>
              <p:nvPr/>
            </p:nvSpPr>
            <p:spPr>
              <a:xfrm>
                <a:off x="2717229" y="4899401"/>
                <a:ext cx="658368" cy="658368"/>
              </a:xfrm>
              <a:prstGeom prst="ellipse">
                <a:avLst/>
              </a:prstGeom>
              <a:noFill/>
              <a:ln w="6350">
                <a:solidFill>
                  <a:srgbClr val="5A6BB5"/>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TextBox 48">
              <a:extLst>
                <a:ext uri="{FF2B5EF4-FFF2-40B4-BE49-F238E27FC236}">
                  <a16:creationId xmlns:a16="http://schemas.microsoft.com/office/drawing/2014/main" id="{98519E5C-938C-92B9-0C81-E7A8D1B816B0}"/>
                </a:ext>
              </a:extLst>
            </p:cNvPr>
            <p:cNvSpPr txBox="1"/>
            <p:nvPr/>
          </p:nvSpPr>
          <p:spPr>
            <a:xfrm>
              <a:off x="2144967" y="5285009"/>
              <a:ext cx="676656" cy="276999"/>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Read-Through</a:t>
              </a:r>
            </a:p>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-Rate</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50" name="Graphic 49">
              <a:extLst>
                <a:ext uri="{FF2B5EF4-FFF2-40B4-BE49-F238E27FC236}">
                  <a16:creationId xmlns:a16="http://schemas.microsoft.com/office/drawing/2014/main" id="{45B09C2B-5347-8D70-7D2C-B3BF6A4E78D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68995" y="5059089"/>
              <a:ext cx="228600" cy="228600"/>
            </a:xfrm>
            <a:prstGeom prst="rect">
              <a:avLst/>
            </a:prstGeom>
          </p:spPr>
        </p:pic>
      </p:grpSp>
      <p:pic>
        <p:nvPicPr>
          <p:cNvPr id="3" name="Picture 2" descr="A screenshot of a chat&#10;&#10;Description automatically generated">
            <a:extLst>
              <a:ext uri="{FF2B5EF4-FFF2-40B4-BE49-F238E27FC236}">
                <a16:creationId xmlns:a16="http://schemas.microsoft.com/office/drawing/2014/main" id="{33A41B98-D0D6-A7DB-CF50-9D97ED0A826E}"/>
              </a:ext>
            </a:extLst>
          </p:cNvPr>
          <p:cNvPicPr>
            <a:picLocks noChangeAspect="1"/>
          </p:cNvPicPr>
          <p:nvPr/>
        </p:nvPicPr>
        <p:blipFill>
          <a:blip r:embed="rId13"/>
          <a:stretch>
            <a:fillRect/>
          </a:stretch>
        </p:blipFill>
        <p:spPr>
          <a:xfrm>
            <a:off x="1800080" y="934228"/>
            <a:ext cx="4064228" cy="1575412"/>
          </a:xfrm>
          <a:prstGeom prst="rect">
            <a:avLst/>
          </a:prstGeom>
        </p:spPr>
      </p:pic>
      <p:pic>
        <p:nvPicPr>
          <p:cNvPr id="6" name="Graphic 5">
            <a:extLst>
              <a:ext uri="{FF2B5EF4-FFF2-40B4-BE49-F238E27FC236}">
                <a16:creationId xmlns:a16="http://schemas.microsoft.com/office/drawing/2014/main" id="{29AD61C9-DF29-F68E-7AFB-2EFF33E9330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35558" y="212997"/>
            <a:ext cx="320040" cy="320040"/>
          </a:xfrm>
          <a:prstGeom prst="rect">
            <a:avLst/>
          </a:prstGeom>
        </p:spPr>
      </p:pic>
    </p:spTree>
    <p:extLst>
      <p:ext uri="{BB962C8B-B14F-4D97-AF65-F5344CB8AC3E}">
        <p14:creationId xmlns:p14="http://schemas.microsoft.com/office/powerpoint/2010/main" val="41385099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cp:revision>
  <dcterms:created xsi:type="dcterms:W3CDTF">2013-07-15T20:26:40Z</dcterms:created>
  <dcterms:modified xsi:type="dcterms:W3CDTF">2023-10-17T12:11:05Z</dcterms:modified>
</cp:coreProperties>
</file>