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DDBF4C-C7A8-4386-9C08-F5BA8478D099}" v="2" dt="2023-10-17T11:16:56.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Webinar Portal</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Transform your clients webinars with creative freedom and engagement tools that resonates and make HCPs feel valued and active participants. Convert the recordings into valuable content that can be distributed in a user-friendly format, fostering post-event engagement and stronger relationships with HCPs.</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83401" y="3031727"/>
            <a:ext cx="2420096" cy="400110"/>
          </a:xfrm>
          <a:prstGeom prst="rect">
            <a:avLst/>
          </a:prstGeom>
          <a:noFill/>
        </p:spPr>
        <p:txBody>
          <a:bodyPr wrap="square">
            <a:spAutoFit/>
          </a:bodyPr>
          <a:lstStyle/>
          <a:p>
            <a:pPr algn="ctr"/>
            <a:r>
              <a:rPr lang="en-GB" sz="2000" b="1" dirty="0">
                <a:solidFill>
                  <a:srgbClr val="0066BE"/>
                </a:solidFill>
                <a:latin typeface="Roboto" panose="02000000000000000000" pitchFamily="2" charset="0"/>
                <a:ea typeface="Roboto" panose="02000000000000000000" pitchFamily="2" charset="0"/>
              </a:rPr>
              <a:t>Webinar Portal</a:t>
            </a:r>
            <a:endParaRPr lang="en-US" sz="2000" b="1" dirty="0">
              <a:solidFill>
                <a:srgbClr val="0066BE"/>
              </a:solidFill>
              <a:latin typeface="Roboto" panose="02000000000000000000" pitchFamily="2" charset="0"/>
              <a:ea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476465" cy="4131900"/>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Online Webinar Platform every HCP will find easy to use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Registration &amp; Consent to suit any regulation</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Automated Calendar Reminders helping the HCPs be on time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Automated personalised emails with single-click-login ensure easy access for each HCP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Take the interaction to the next level &amp; allow</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HCPs to ask real-time questions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Learn who stayed and engaged to prove ROI</a:t>
            </a:r>
            <a:endParaRPr lang="en-US" sz="1200" dirty="0">
              <a:solidFill>
                <a:schemeClr val="bg1"/>
              </a:solidFill>
              <a:latin typeface="Roboto" panose="02000000000000000000" pitchFamily="2" charset="0"/>
              <a:ea typeface="Roboto" panose="02000000000000000000" pitchFamily="2" charset="0"/>
            </a:endParaRPr>
          </a:p>
        </p:txBody>
      </p:sp>
      <p:grpSp>
        <p:nvGrpSpPr>
          <p:cNvPr id="23" name="Group 22">
            <a:extLst>
              <a:ext uri="{FF2B5EF4-FFF2-40B4-BE49-F238E27FC236}">
                <a16:creationId xmlns:a16="http://schemas.microsoft.com/office/drawing/2014/main" id="{249FF8F4-E1AA-EFB1-5B0F-DD1BB8BE1044}"/>
              </a:ext>
            </a:extLst>
          </p:cNvPr>
          <p:cNvGrpSpPr/>
          <p:nvPr/>
        </p:nvGrpSpPr>
        <p:grpSpPr>
          <a:xfrm>
            <a:off x="4063904" y="5872509"/>
            <a:ext cx="676656" cy="658368"/>
            <a:chOff x="3601278" y="4955825"/>
            <a:chExt cx="676656" cy="658368"/>
          </a:xfrm>
        </p:grpSpPr>
        <p:grpSp>
          <p:nvGrpSpPr>
            <p:cNvPr id="24" name="Group 23">
              <a:extLst>
                <a:ext uri="{FF2B5EF4-FFF2-40B4-BE49-F238E27FC236}">
                  <a16:creationId xmlns:a16="http://schemas.microsoft.com/office/drawing/2014/main" id="{107067EF-D1C9-8EB2-DA12-C5E25757ABF8}"/>
                </a:ext>
              </a:extLst>
            </p:cNvPr>
            <p:cNvGrpSpPr/>
            <p:nvPr/>
          </p:nvGrpSpPr>
          <p:grpSpPr>
            <a:xfrm>
              <a:off x="3615755" y="4955825"/>
              <a:ext cx="658368" cy="658368"/>
              <a:chOff x="2717229" y="4899401"/>
              <a:chExt cx="658368" cy="658368"/>
            </a:xfrm>
          </p:grpSpPr>
          <p:sp>
            <p:nvSpPr>
              <p:cNvPr id="27" name="Oval 26">
                <a:extLst>
                  <a:ext uri="{FF2B5EF4-FFF2-40B4-BE49-F238E27FC236}">
                    <a16:creationId xmlns:a16="http://schemas.microsoft.com/office/drawing/2014/main" id="{EA46935A-657C-D63B-6E4C-FF2A6C8EABC2}"/>
                  </a:ext>
                </a:extLst>
              </p:cNvPr>
              <p:cNvSpPr/>
              <p:nvPr/>
            </p:nvSpPr>
            <p:spPr>
              <a:xfrm>
                <a:off x="2753805" y="4935977"/>
                <a:ext cx="585216" cy="585216"/>
              </a:xfrm>
              <a:prstGeom prst="ellipse">
                <a:avLst/>
              </a:prstGeom>
              <a:solidFill>
                <a:srgbClr val="045FAE"/>
              </a:solidFill>
              <a:ln>
                <a:noFill/>
              </a:ln>
              <a:effectLst>
                <a:outerShdw blurRad="63500" sx="103000" sy="103000" algn="ctr" rotWithShape="0">
                  <a:srgbClr val="045FA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7D2CB96-8409-D57B-3FE0-34093707826A}"/>
                  </a:ext>
                </a:extLst>
              </p:cNvPr>
              <p:cNvSpPr/>
              <p:nvPr/>
            </p:nvSpPr>
            <p:spPr>
              <a:xfrm>
                <a:off x="2717229" y="4899401"/>
                <a:ext cx="658368" cy="658368"/>
              </a:xfrm>
              <a:prstGeom prst="ellipse">
                <a:avLst/>
              </a:prstGeom>
              <a:noFill/>
              <a:ln w="6350">
                <a:solidFill>
                  <a:srgbClr val="045FA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3E5E124B-12BE-E1B0-3197-B9C1D00807C7}"/>
                </a:ext>
              </a:extLst>
            </p:cNvPr>
            <p:cNvSpPr txBox="1"/>
            <p:nvPr/>
          </p:nvSpPr>
          <p:spPr>
            <a:xfrm>
              <a:off x="3601278" y="5267884"/>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inforMedGo</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26" name="Graphic 25">
              <a:extLst>
                <a:ext uri="{FF2B5EF4-FFF2-40B4-BE49-F238E27FC236}">
                  <a16:creationId xmlns:a16="http://schemas.microsoft.com/office/drawing/2014/main" id="{80C60146-3561-2671-3A41-13F9770F8E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39022" y="5052271"/>
              <a:ext cx="201168" cy="201168"/>
            </a:xfrm>
            <a:prstGeom prst="rect">
              <a:avLst/>
            </a:prstGeom>
          </p:spPr>
        </p:pic>
      </p:grpSp>
      <p:grpSp>
        <p:nvGrpSpPr>
          <p:cNvPr id="29" name="Group 28">
            <a:extLst>
              <a:ext uri="{FF2B5EF4-FFF2-40B4-BE49-F238E27FC236}">
                <a16:creationId xmlns:a16="http://schemas.microsoft.com/office/drawing/2014/main" id="{B3BEF952-D96F-EF01-7CCF-8EA4555E880B}"/>
              </a:ext>
            </a:extLst>
          </p:cNvPr>
          <p:cNvGrpSpPr/>
          <p:nvPr/>
        </p:nvGrpSpPr>
        <p:grpSpPr>
          <a:xfrm>
            <a:off x="5581209" y="5872509"/>
            <a:ext cx="676656" cy="658368"/>
            <a:chOff x="5073337" y="4958505"/>
            <a:chExt cx="676656" cy="658368"/>
          </a:xfrm>
        </p:grpSpPr>
        <p:grpSp>
          <p:nvGrpSpPr>
            <p:cNvPr id="30" name="Group 29">
              <a:extLst>
                <a:ext uri="{FF2B5EF4-FFF2-40B4-BE49-F238E27FC236}">
                  <a16:creationId xmlns:a16="http://schemas.microsoft.com/office/drawing/2014/main" id="{27239465-BF7B-50C6-1628-9C185A4E6D7C}"/>
                </a:ext>
              </a:extLst>
            </p:cNvPr>
            <p:cNvGrpSpPr/>
            <p:nvPr/>
          </p:nvGrpSpPr>
          <p:grpSpPr>
            <a:xfrm>
              <a:off x="5082481" y="4958505"/>
              <a:ext cx="658368" cy="658368"/>
              <a:chOff x="2717229" y="4899401"/>
              <a:chExt cx="658368" cy="658368"/>
            </a:xfrm>
          </p:grpSpPr>
          <p:sp>
            <p:nvSpPr>
              <p:cNvPr id="33" name="Oval 32">
                <a:extLst>
                  <a:ext uri="{FF2B5EF4-FFF2-40B4-BE49-F238E27FC236}">
                    <a16:creationId xmlns:a16="http://schemas.microsoft.com/office/drawing/2014/main" id="{D3C0E614-3239-4556-7FB8-7652B65C3759}"/>
                  </a:ext>
                </a:extLst>
              </p:cNvPr>
              <p:cNvSpPr/>
              <p:nvPr/>
            </p:nvSpPr>
            <p:spPr>
              <a:xfrm>
                <a:off x="2753805" y="4935977"/>
                <a:ext cx="585216" cy="585216"/>
              </a:xfrm>
              <a:prstGeom prst="ellipse">
                <a:avLst/>
              </a:prstGeom>
              <a:solidFill>
                <a:srgbClr val="00D4C0"/>
              </a:solidFill>
              <a:ln>
                <a:noFill/>
              </a:ln>
              <a:effectLst>
                <a:outerShdw blurRad="63500" sx="103000" sy="103000" algn="ctr" rotWithShape="0">
                  <a:srgbClr val="00D4C0"/>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EAEE0361-07DF-8904-DED1-A3BD4E429A52}"/>
                  </a:ext>
                </a:extLst>
              </p:cNvPr>
              <p:cNvSpPr/>
              <p:nvPr/>
            </p:nvSpPr>
            <p:spPr>
              <a:xfrm>
                <a:off x="2717229" y="4899401"/>
                <a:ext cx="658368" cy="658368"/>
              </a:xfrm>
              <a:prstGeom prst="ellipse">
                <a:avLst/>
              </a:prstGeom>
              <a:noFill/>
              <a:ln w="6350">
                <a:solidFill>
                  <a:srgbClr val="00D4C0"/>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a:extLst>
                <a:ext uri="{FF2B5EF4-FFF2-40B4-BE49-F238E27FC236}">
                  <a16:creationId xmlns:a16="http://schemas.microsoft.com/office/drawing/2014/main" id="{EC87BEB5-2FA8-6A0A-F6A1-69DA095A330B}"/>
                </a:ext>
              </a:extLst>
            </p:cNvPr>
            <p:cNvSpPr txBox="1"/>
            <p:nvPr/>
          </p:nvSpPr>
          <p:spPr>
            <a:xfrm>
              <a:off x="5073337" y="5259201"/>
              <a:ext cx="676656" cy="184666"/>
            </a:xfrm>
            <a:prstGeom prst="rect">
              <a:avLst/>
            </a:prstGeom>
            <a:noFill/>
          </p:spPr>
          <p:txBody>
            <a:bodyPr wrap="square" rtlCol="0">
              <a:spAutoFit/>
            </a:bodyPr>
            <a:lstStyle/>
            <a:p>
              <a:pPr algn="ctr"/>
              <a:r>
                <a:rPr lang="en-GB" sz="600" dirty="0" err="1">
                  <a:solidFill>
                    <a:schemeClr val="bg1"/>
                  </a:solidFill>
                  <a:latin typeface="Roboto Medium" panose="02000000000000000000" pitchFamily="2" charset="0"/>
                  <a:ea typeface="Roboto Medium" panose="02000000000000000000" pitchFamily="2" charset="0"/>
                  <a:cs typeface="Roboto Medium" panose="02000000000000000000" pitchFamily="2" charset="0"/>
                </a:rPr>
                <a:t>Automail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2" name="Graphic 31">
              <a:extLst>
                <a:ext uri="{FF2B5EF4-FFF2-40B4-BE49-F238E27FC236}">
                  <a16:creationId xmlns:a16="http://schemas.microsoft.com/office/drawing/2014/main" id="{C09F8B03-89C1-41CC-279B-9BC43D6143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1081" y="5039745"/>
              <a:ext cx="201168" cy="201168"/>
            </a:xfrm>
            <a:prstGeom prst="rect">
              <a:avLst/>
            </a:prstGeom>
          </p:spPr>
        </p:pic>
      </p:grpSp>
      <p:grpSp>
        <p:nvGrpSpPr>
          <p:cNvPr id="35" name="Group 34">
            <a:extLst>
              <a:ext uri="{FF2B5EF4-FFF2-40B4-BE49-F238E27FC236}">
                <a16:creationId xmlns:a16="http://schemas.microsoft.com/office/drawing/2014/main" id="{C90DE62A-22CC-C20D-180A-88D1B5A58876}"/>
              </a:ext>
            </a:extLst>
          </p:cNvPr>
          <p:cNvGrpSpPr/>
          <p:nvPr/>
        </p:nvGrpSpPr>
        <p:grpSpPr>
          <a:xfrm>
            <a:off x="4822557" y="5872509"/>
            <a:ext cx="676656" cy="658368"/>
            <a:chOff x="4328355" y="4958505"/>
            <a:chExt cx="676656" cy="658368"/>
          </a:xfrm>
        </p:grpSpPr>
        <p:grpSp>
          <p:nvGrpSpPr>
            <p:cNvPr id="36" name="Group 35">
              <a:extLst>
                <a:ext uri="{FF2B5EF4-FFF2-40B4-BE49-F238E27FC236}">
                  <a16:creationId xmlns:a16="http://schemas.microsoft.com/office/drawing/2014/main" id="{8BA3B4F5-BA5B-DDBA-098D-CFBB5527DA2C}"/>
                </a:ext>
              </a:extLst>
            </p:cNvPr>
            <p:cNvGrpSpPr/>
            <p:nvPr/>
          </p:nvGrpSpPr>
          <p:grpSpPr>
            <a:xfrm>
              <a:off x="4342958" y="4958505"/>
              <a:ext cx="658368" cy="658368"/>
              <a:chOff x="2717229" y="4899401"/>
              <a:chExt cx="658368" cy="658368"/>
            </a:xfrm>
          </p:grpSpPr>
          <p:sp>
            <p:nvSpPr>
              <p:cNvPr id="39" name="Oval 38">
                <a:extLst>
                  <a:ext uri="{FF2B5EF4-FFF2-40B4-BE49-F238E27FC236}">
                    <a16:creationId xmlns:a16="http://schemas.microsoft.com/office/drawing/2014/main" id="{D48B9D0D-3737-7D04-A951-9049ACB174B9}"/>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AFF903B2-7884-9F7D-B161-9F3897C6CD37}"/>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20D04ABD-BEB4-6CB5-19D0-2441566C88C1}"/>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8" name="Graphic 37">
              <a:extLst>
                <a:ext uri="{FF2B5EF4-FFF2-40B4-BE49-F238E27FC236}">
                  <a16:creationId xmlns:a16="http://schemas.microsoft.com/office/drawing/2014/main" id="{0C70865A-FFEE-4B00-2E55-BC72DA36B4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77718" y="5052271"/>
              <a:ext cx="201168" cy="201168"/>
            </a:xfrm>
            <a:prstGeom prst="rect">
              <a:avLst/>
            </a:prstGeom>
          </p:spPr>
        </p:pic>
      </p:grpSp>
      <p:grpSp>
        <p:nvGrpSpPr>
          <p:cNvPr id="41" name="Group 40">
            <a:extLst>
              <a:ext uri="{FF2B5EF4-FFF2-40B4-BE49-F238E27FC236}">
                <a16:creationId xmlns:a16="http://schemas.microsoft.com/office/drawing/2014/main" id="{1781DC61-D201-75BE-3A1A-AF9ADBC38AFE}"/>
              </a:ext>
            </a:extLst>
          </p:cNvPr>
          <p:cNvGrpSpPr/>
          <p:nvPr/>
        </p:nvGrpSpPr>
        <p:grpSpPr>
          <a:xfrm>
            <a:off x="3305251" y="5872509"/>
            <a:ext cx="676656" cy="658368"/>
            <a:chOff x="3081391" y="3371266"/>
            <a:chExt cx="676656" cy="658368"/>
          </a:xfrm>
        </p:grpSpPr>
        <p:grpSp>
          <p:nvGrpSpPr>
            <p:cNvPr id="42" name="Group 41">
              <a:extLst>
                <a:ext uri="{FF2B5EF4-FFF2-40B4-BE49-F238E27FC236}">
                  <a16:creationId xmlns:a16="http://schemas.microsoft.com/office/drawing/2014/main" id="{A087C5A4-8FF3-1A5A-EF5A-E1B2D370DD18}"/>
                </a:ext>
              </a:extLst>
            </p:cNvPr>
            <p:cNvGrpSpPr/>
            <p:nvPr/>
          </p:nvGrpSpPr>
          <p:grpSpPr>
            <a:xfrm>
              <a:off x="3090535" y="3371266"/>
              <a:ext cx="658368" cy="658368"/>
              <a:chOff x="2717229" y="4899401"/>
              <a:chExt cx="658368" cy="658368"/>
            </a:xfrm>
          </p:grpSpPr>
          <p:sp>
            <p:nvSpPr>
              <p:cNvPr id="45" name="Oval 44">
                <a:extLst>
                  <a:ext uri="{FF2B5EF4-FFF2-40B4-BE49-F238E27FC236}">
                    <a16:creationId xmlns:a16="http://schemas.microsoft.com/office/drawing/2014/main" id="{53CB58D9-A56A-33D4-BDA1-B82F7767D8A5}"/>
                  </a:ext>
                </a:extLst>
              </p:cNvPr>
              <p:cNvSpPr/>
              <p:nvPr/>
            </p:nvSpPr>
            <p:spPr>
              <a:xfrm>
                <a:off x="2753805" y="4935977"/>
                <a:ext cx="585216" cy="585216"/>
              </a:xfrm>
              <a:prstGeom prst="ellipse">
                <a:avLst/>
              </a:prstGeom>
              <a:solidFill>
                <a:srgbClr val="8A4E9C"/>
              </a:solidFill>
              <a:ln>
                <a:noFill/>
              </a:ln>
              <a:effectLst>
                <a:outerShdw blurRad="63500" sx="103000" sy="103000" algn="ctr" rotWithShape="0">
                  <a:srgbClr val="8A4E9C"/>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E0D29595-E598-4FAF-D80E-9E5E379908A6}"/>
                  </a:ext>
                </a:extLst>
              </p:cNvPr>
              <p:cNvSpPr/>
              <p:nvPr/>
            </p:nvSpPr>
            <p:spPr>
              <a:xfrm>
                <a:off x="2717229" y="4899401"/>
                <a:ext cx="658368" cy="658368"/>
              </a:xfrm>
              <a:prstGeom prst="ellipse">
                <a:avLst/>
              </a:prstGeom>
              <a:noFill/>
              <a:ln w="6350">
                <a:solidFill>
                  <a:srgbClr val="8A4E9C"/>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TextBox 42">
              <a:extLst>
                <a:ext uri="{FF2B5EF4-FFF2-40B4-BE49-F238E27FC236}">
                  <a16:creationId xmlns:a16="http://schemas.microsoft.com/office/drawing/2014/main" id="{E39137B0-6E4B-9AC8-FC90-41395BE67EB5}"/>
                </a:ext>
              </a:extLst>
            </p:cNvPr>
            <p:cNvSpPr txBox="1"/>
            <p:nvPr/>
          </p:nvSpPr>
          <p:spPr>
            <a:xfrm>
              <a:off x="3081391" y="3671962"/>
              <a:ext cx="676656" cy="276999"/>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Webinar Portal</a:t>
              </a:r>
            </a:p>
          </p:txBody>
        </p:sp>
        <p:pic>
          <p:nvPicPr>
            <p:cNvPr id="44" name="Graphic 43">
              <a:extLst>
                <a:ext uri="{FF2B5EF4-FFF2-40B4-BE49-F238E27FC236}">
                  <a16:creationId xmlns:a16="http://schemas.microsoft.com/office/drawing/2014/main" id="{24C09701-DF14-E39E-7E75-19961C2D93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9135" y="3484929"/>
              <a:ext cx="201168" cy="201168"/>
            </a:xfrm>
            <a:prstGeom prst="rect">
              <a:avLst/>
            </a:prstGeom>
          </p:spPr>
        </p:pic>
      </p:grpSp>
      <p:grpSp>
        <p:nvGrpSpPr>
          <p:cNvPr id="47" name="Group 46">
            <a:extLst>
              <a:ext uri="{FF2B5EF4-FFF2-40B4-BE49-F238E27FC236}">
                <a16:creationId xmlns:a16="http://schemas.microsoft.com/office/drawing/2014/main" id="{25696D85-3C51-7CE3-CB7B-1C3D6062668E}"/>
              </a:ext>
            </a:extLst>
          </p:cNvPr>
          <p:cNvGrpSpPr/>
          <p:nvPr/>
        </p:nvGrpSpPr>
        <p:grpSpPr>
          <a:xfrm>
            <a:off x="2546598" y="5872509"/>
            <a:ext cx="676656" cy="658368"/>
            <a:chOff x="2144967" y="4958505"/>
            <a:chExt cx="676656" cy="658368"/>
          </a:xfrm>
        </p:grpSpPr>
        <p:grpSp>
          <p:nvGrpSpPr>
            <p:cNvPr id="48" name="Group 47">
              <a:extLst>
                <a:ext uri="{FF2B5EF4-FFF2-40B4-BE49-F238E27FC236}">
                  <a16:creationId xmlns:a16="http://schemas.microsoft.com/office/drawing/2014/main" id="{D7B1E346-FD95-B4A0-A8CF-E7BEB1613792}"/>
                </a:ext>
              </a:extLst>
            </p:cNvPr>
            <p:cNvGrpSpPr/>
            <p:nvPr/>
          </p:nvGrpSpPr>
          <p:grpSpPr>
            <a:xfrm>
              <a:off x="2154111" y="4958505"/>
              <a:ext cx="658368" cy="658368"/>
              <a:chOff x="2717229" y="4899401"/>
              <a:chExt cx="658368" cy="658368"/>
            </a:xfrm>
          </p:grpSpPr>
          <p:sp>
            <p:nvSpPr>
              <p:cNvPr id="51" name="Oval 50">
                <a:extLst>
                  <a:ext uri="{FF2B5EF4-FFF2-40B4-BE49-F238E27FC236}">
                    <a16:creationId xmlns:a16="http://schemas.microsoft.com/office/drawing/2014/main" id="{12887E59-AA6C-8F77-0430-0BB613A8AAF5}"/>
                  </a:ext>
                </a:extLst>
              </p:cNvPr>
              <p:cNvSpPr/>
              <p:nvPr/>
            </p:nvSpPr>
            <p:spPr>
              <a:xfrm>
                <a:off x="2753805" y="4935977"/>
                <a:ext cx="585216" cy="585216"/>
              </a:xfrm>
              <a:prstGeom prst="ellipse">
                <a:avLst/>
              </a:prstGeom>
              <a:solidFill>
                <a:srgbClr val="5A6BB5"/>
              </a:solidFill>
              <a:ln>
                <a:noFill/>
              </a:ln>
              <a:effectLst>
                <a:outerShdw blurRad="63500" sx="103000" sy="103000" algn="ctr" rotWithShape="0">
                  <a:srgbClr val="5A6BB5"/>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5E78D482-3E19-04BA-9F71-E38064706395}"/>
                  </a:ext>
                </a:extLst>
              </p:cNvPr>
              <p:cNvSpPr/>
              <p:nvPr/>
            </p:nvSpPr>
            <p:spPr>
              <a:xfrm>
                <a:off x="2717229" y="4899401"/>
                <a:ext cx="658368" cy="658368"/>
              </a:xfrm>
              <a:prstGeom prst="ellipse">
                <a:avLst/>
              </a:prstGeom>
              <a:noFill/>
              <a:ln w="6350">
                <a:solidFill>
                  <a:srgbClr val="5A6BB5"/>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extBox 48">
              <a:extLst>
                <a:ext uri="{FF2B5EF4-FFF2-40B4-BE49-F238E27FC236}">
                  <a16:creationId xmlns:a16="http://schemas.microsoft.com/office/drawing/2014/main" id="{98519E5C-938C-92B9-0C81-E7A8D1B816B0}"/>
                </a:ext>
              </a:extLst>
            </p:cNvPr>
            <p:cNvSpPr txBox="1"/>
            <p:nvPr/>
          </p:nvSpPr>
          <p:spPr>
            <a:xfrm>
              <a:off x="2144967" y="5285009"/>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Read-Through</a:t>
              </a:r>
            </a:p>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-Rate</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50" name="Graphic 49">
              <a:extLst>
                <a:ext uri="{FF2B5EF4-FFF2-40B4-BE49-F238E27FC236}">
                  <a16:creationId xmlns:a16="http://schemas.microsoft.com/office/drawing/2014/main" id="{45B09C2B-5347-8D70-7D2C-B3BF6A4E78D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68995" y="5059089"/>
              <a:ext cx="228600" cy="228600"/>
            </a:xfrm>
            <a:prstGeom prst="rect">
              <a:avLst/>
            </a:prstGeom>
          </p:spPr>
        </p:pic>
      </p:grpSp>
      <p:pic>
        <p:nvPicPr>
          <p:cNvPr id="3" name="Picture 2" descr="A screenshot of a chat&#10;&#10;Description automatically generated">
            <a:extLst>
              <a:ext uri="{FF2B5EF4-FFF2-40B4-BE49-F238E27FC236}">
                <a16:creationId xmlns:a16="http://schemas.microsoft.com/office/drawing/2014/main" id="{33A41B98-D0D6-A7DB-CF50-9D97ED0A826E}"/>
              </a:ext>
            </a:extLst>
          </p:cNvPr>
          <p:cNvPicPr>
            <a:picLocks noChangeAspect="1"/>
          </p:cNvPicPr>
          <p:nvPr/>
        </p:nvPicPr>
        <p:blipFill>
          <a:blip r:embed="rId13"/>
          <a:stretch>
            <a:fillRect/>
          </a:stretch>
        </p:blipFill>
        <p:spPr>
          <a:xfrm>
            <a:off x="1800080" y="934228"/>
            <a:ext cx="4064228" cy="1575412"/>
          </a:xfrm>
          <a:prstGeom prst="rect">
            <a:avLst/>
          </a:prstGeom>
        </p:spPr>
      </p:pic>
      <p:pic>
        <p:nvPicPr>
          <p:cNvPr id="6" name="Graphic 5">
            <a:extLst>
              <a:ext uri="{FF2B5EF4-FFF2-40B4-BE49-F238E27FC236}">
                <a16:creationId xmlns:a16="http://schemas.microsoft.com/office/drawing/2014/main" id="{29AD61C9-DF29-F68E-7AFB-2EFF33E9330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5558" y="212997"/>
            <a:ext cx="320040" cy="320040"/>
          </a:xfrm>
          <a:prstGeom prst="rect">
            <a:avLst/>
          </a:prstGeom>
        </p:spPr>
      </p:pic>
    </p:spTree>
    <p:extLst>
      <p:ext uri="{BB962C8B-B14F-4D97-AF65-F5344CB8AC3E}">
        <p14:creationId xmlns:p14="http://schemas.microsoft.com/office/powerpoint/2010/main" val="36465030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4</cp:revision>
  <dcterms:created xsi:type="dcterms:W3CDTF">2023-10-17T11:16:18Z</dcterms:created>
  <dcterms:modified xsi:type="dcterms:W3CDTF">2023-10-17T11:17:31Z</dcterms:modified>
</cp:coreProperties>
</file>