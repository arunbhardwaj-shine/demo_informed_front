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14" r:id="rId2"/>
  </p:sldMasterIdLst>
  <p:sldIdLst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F4127F-06E0-43E9-9BB1-37B3854FB87F}" v="3" dt="2023-10-17T12:19:57.5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9FA3AC-8899-DC44-8ACE-DE70FCE85A10}"/>
              </a:ext>
            </a:extLst>
          </p:cNvPr>
          <p:cNvSpPr/>
          <p:nvPr userDrawn="1"/>
        </p:nvSpPr>
        <p:spPr>
          <a:xfrm>
            <a:off x="-1" y="-12699"/>
            <a:ext cx="11684001" cy="568960"/>
          </a:xfrm>
          <a:prstGeom prst="rect">
            <a:avLst/>
          </a:prstGeom>
          <a:solidFill>
            <a:srgbClr val="1F67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64805866-AE00-6147-BF2C-BDEEC0238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526" y="9526"/>
            <a:ext cx="10515600" cy="546910"/>
          </a:xfrm>
          <a:prstGeom prst="rect">
            <a:avLst/>
          </a:prstGeom>
        </p:spPr>
        <p:txBody>
          <a:bodyPr/>
          <a:lstStyle>
            <a:lvl1pPr algn="l">
              <a:defRPr sz="3200" b="0" i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BE429170-0933-7047-BB5C-5CBA2DD389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300" y="901700"/>
            <a:ext cx="10388600" cy="825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E69B0"/>
                </a:solidFill>
                <a:latin typeface="Muli" pitchFamily="2" charset="77"/>
              </a:defRPr>
            </a:lvl1pPr>
            <a:lvl2pPr>
              <a:defRPr>
                <a:solidFill>
                  <a:srgbClr val="1E69B0"/>
                </a:solidFill>
                <a:latin typeface="Muli" pitchFamily="2" charset="77"/>
              </a:defRPr>
            </a:lvl2pPr>
            <a:lvl3pPr>
              <a:defRPr>
                <a:solidFill>
                  <a:srgbClr val="1E69B0"/>
                </a:solidFill>
                <a:latin typeface="Muli" pitchFamily="2" charset="77"/>
              </a:defRPr>
            </a:lvl3pPr>
            <a:lvl4pPr>
              <a:defRPr>
                <a:solidFill>
                  <a:srgbClr val="1E69B0"/>
                </a:solidFill>
                <a:latin typeface="Muli" pitchFamily="2" charset="77"/>
              </a:defRPr>
            </a:lvl4pPr>
            <a:lvl5pPr>
              <a:defRPr>
                <a:solidFill>
                  <a:srgbClr val="1E69B0"/>
                </a:solidFill>
                <a:latin typeface="Muli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4F52FE-25F1-FB42-BF78-727AE3F5A47F}"/>
              </a:ext>
            </a:extLst>
          </p:cNvPr>
          <p:cNvSpPr/>
          <p:nvPr userDrawn="1"/>
        </p:nvSpPr>
        <p:spPr>
          <a:xfrm>
            <a:off x="11801475" y="901700"/>
            <a:ext cx="390525" cy="241300"/>
          </a:xfrm>
          <a:prstGeom prst="rect">
            <a:avLst/>
          </a:prstGeom>
          <a:solidFill>
            <a:srgbClr val="1F66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49DD305-009C-624C-AB17-3DE215394C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6300" y="-12525"/>
            <a:ext cx="1155700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327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F3A82-0C89-6448-899F-3A09AE2B0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1041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1E69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7">
            <a:extLst>
              <a:ext uri="{FF2B5EF4-FFF2-40B4-BE49-F238E27FC236}">
                <a16:creationId xmlns:a16="http://schemas.microsoft.com/office/drawing/2014/main" id="{728F80F8-A82B-CD46-9788-052B09169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526" y="9526"/>
            <a:ext cx="10515600" cy="546910"/>
          </a:xfrm>
          <a:prstGeom prst="rect">
            <a:avLst/>
          </a:prstGeom>
        </p:spPr>
        <p:txBody>
          <a:bodyPr/>
          <a:lstStyle>
            <a:lvl1pPr algn="l">
              <a:defRPr sz="3200" b="0" i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9D837BB8-33C5-E34E-B9DD-07AF291488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300" y="901700"/>
            <a:ext cx="10388600" cy="825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Muli" pitchFamily="2" charset="77"/>
              </a:defRPr>
            </a:lvl1pPr>
            <a:lvl2pPr>
              <a:defRPr>
                <a:solidFill>
                  <a:schemeClr val="bg1"/>
                </a:solidFill>
                <a:latin typeface="Muli" pitchFamily="2" charset="77"/>
              </a:defRPr>
            </a:lvl2pPr>
            <a:lvl3pPr>
              <a:defRPr>
                <a:solidFill>
                  <a:schemeClr val="bg1"/>
                </a:solidFill>
                <a:latin typeface="Muli" pitchFamily="2" charset="77"/>
              </a:defRPr>
            </a:lvl3pPr>
            <a:lvl4pPr>
              <a:defRPr>
                <a:solidFill>
                  <a:schemeClr val="bg1"/>
                </a:solidFill>
                <a:latin typeface="Muli" pitchFamily="2" charset="77"/>
              </a:defRPr>
            </a:lvl4pPr>
            <a:lvl5pPr>
              <a:defRPr>
                <a:solidFill>
                  <a:schemeClr val="bg1"/>
                </a:solidFill>
                <a:latin typeface="Muli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0037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873" y="752755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0265BE"/>
                </a:solidFill>
                <a:latin typeface="Roboto Regular"/>
                <a:cs typeface="Roboto Regular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873" y="2256117"/>
            <a:ext cx="10972800" cy="4280928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Muli" pitchFamily="2" charset="77"/>
                <a:cs typeface="Muli" pitchFamily="2" charset="77"/>
              </a:defRPr>
            </a:lvl1pPr>
            <a:lvl2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2pPr>
            <a:lvl3pPr>
              <a:defRPr sz="2400" b="0" i="0">
                <a:latin typeface="Muli" pitchFamily="2" charset="77"/>
                <a:ea typeface="Roboto Light" pitchFamily="2" charset="0"/>
                <a:cs typeface="Muli" pitchFamily="2" charset="77"/>
              </a:defRPr>
            </a:lvl3pPr>
            <a:lvl4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4pPr>
            <a:lvl5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5CFA89-2EB5-CB47-89F6-13D5D15C2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-25400"/>
            <a:ext cx="7272867" cy="3923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Roboto" pitchFamily="2" charset="0"/>
                <a:ea typeface="Roboto" pitchFamily="2" charset="0"/>
              </a:defRPr>
            </a:lvl1pPr>
          </a:lstStyle>
          <a:p>
            <a:pPr lvl="0"/>
            <a:r>
              <a:rPr lang="en-US" b="0" i="0" dirty="0">
                <a:latin typeface="Muli Light" pitchFamily="2" charset="77"/>
              </a:rPr>
              <a:t>Title goes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42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873" y="752755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0265BE"/>
                </a:solidFill>
                <a:latin typeface="Roboto Regular"/>
                <a:cs typeface="Roboto Regular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873" y="2256117"/>
            <a:ext cx="10972800" cy="4280928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Muli" pitchFamily="2" charset="77"/>
                <a:cs typeface="Muli" pitchFamily="2" charset="77"/>
              </a:defRPr>
            </a:lvl1pPr>
            <a:lvl2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2pPr>
            <a:lvl3pPr>
              <a:defRPr sz="2400" b="0" i="0">
                <a:latin typeface="Muli" pitchFamily="2" charset="77"/>
                <a:ea typeface="Roboto Light" pitchFamily="2" charset="0"/>
                <a:cs typeface="Muli" pitchFamily="2" charset="77"/>
              </a:defRPr>
            </a:lvl3pPr>
            <a:lvl4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4pPr>
            <a:lvl5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5CFA89-2EB5-CB47-89F6-13D5D15C2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-25400"/>
            <a:ext cx="7272867" cy="3923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Roboto" pitchFamily="2" charset="0"/>
                <a:ea typeface="Roboto" pitchFamily="2" charset="0"/>
              </a:defRPr>
            </a:lvl1pPr>
          </a:lstStyle>
          <a:p>
            <a:pPr lvl="0"/>
            <a:r>
              <a:rPr lang="en-US" b="0" i="0" dirty="0">
                <a:latin typeface="Muli Light" pitchFamily="2" charset="77"/>
              </a:rPr>
              <a:t>Title goes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475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4261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648" r:id="rId2"/>
    <p:sldLayoutId id="2147483715" r:id="rId3"/>
    <p:sldLayoutId id="2147483720" r:id="rId4"/>
    <p:sldLayoutId id="214748372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B481012-DB80-7002-2F06-7919D022265F}"/>
              </a:ext>
            </a:extLst>
          </p:cNvPr>
          <p:cNvGrpSpPr/>
          <p:nvPr/>
        </p:nvGrpSpPr>
        <p:grpSpPr>
          <a:xfrm>
            <a:off x="2561106" y="5841542"/>
            <a:ext cx="676656" cy="658368"/>
            <a:chOff x="3601278" y="4955825"/>
            <a:chExt cx="676656" cy="65836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2CF3908-A177-335D-FECF-0254E313F4AC}"/>
                </a:ext>
              </a:extLst>
            </p:cNvPr>
            <p:cNvGrpSpPr/>
            <p:nvPr/>
          </p:nvGrpSpPr>
          <p:grpSpPr>
            <a:xfrm>
              <a:off x="3615755" y="4955825"/>
              <a:ext cx="658368" cy="658368"/>
              <a:chOff x="2717229" y="4899401"/>
              <a:chExt cx="658368" cy="658368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65362106-B115-A0D7-AD74-49973999BF41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045FAE"/>
              </a:solidFill>
              <a:ln>
                <a:noFill/>
              </a:ln>
              <a:effectLst>
                <a:outerShdw blurRad="63500" sx="103000" sy="103000" algn="ctr" rotWithShape="0">
                  <a:srgbClr val="045FAE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E43ABC70-A1A5-4E54-4B75-0D06AD144B14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045FAE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BA94101-3FAB-1B94-F089-60AF31BBDD89}"/>
                </a:ext>
              </a:extLst>
            </p:cNvPr>
            <p:cNvSpPr txBox="1"/>
            <p:nvPr/>
          </p:nvSpPr>
          <p:spPr>
            <a:xfrm>
              <a:off x="3601278" y="5267884"/>
              <a:ext cx="6766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dirty="0" err="1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inforMedGo</a:t>
              </a:r>
              <a:endParaRPr lang="en-US" sz="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endParaRP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20A9EDB7-73C8-331C-F516-F86FA8F421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39022" y="5052271"/>
              <a:ext cx="201168" cy="201168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5DD72B6-64A3-3DB5-287E-1BC5F744E092}"/>
              </a:ext>
            </a:extLst>
          </p:cNvPr>
          <p:cNvGrpSpPr/>
          <p:nvPr/>
        </p:nvGrpSpPr>
        <p:grpSpPr>
          <a:xfrm>
            <a:off x="4086647" y="5841542"/>
            <a:ext cx="676656" cy="658368"/>
            <a:chOff x="4328355" y="4958505"/>
            <a:chExt cx="676656" cy="65836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634250F-084C-5927-2230-FD9BAF9BCF69}"/>
                </a:ext>
              </a:extLst>
            </p:cNvPr>
            <p:cNvGrpSpPr/>
            <p:nvPr/>
          </p:nvGrpSpPr>
          <p:grpSpPr>
            <a:xfrm>
              <a:off x="4342958" y="4958505"/>
              <a:ext cx="658368" cy="658368"/>
              <a:chOff x="2717229" y="4899401"/>
              <a:chExt cx="658368" cy="658368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68B16D97-A4D1-BC88-FFD9-B758CE891B52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00A4BF"/>
              </a:solidFill>
              <a:ln>
                <a:noFill/>
              </a:ln>
              <a:effectLst>
                <a:outerShdw blurRad="63500" sx="103000" sy="103000" algn="ctr" rotWithShape="0">
                  <a:srgbClr val="00A4BF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E364E63E-77E3-159D-8CA6-21BFBD5EBC14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00A4BF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277B405-BF85-0DC6-5B55-5EF66F52644F}"/>
                </a:ext>
              </a:extLst>
            </p:cNvPr>
            <p:cNvSpPr txBox="1"/>
            <p:nvPr/>
          </p:nvSpPr>
          <p:spPr>
            <a:xfrm>
              <a:off x="4328355" y="5257564"/>
              <a:ext cx="6766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Consent</a:t>
              </a:r>
              <a:endParaRPr lang="en-US" sz="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endParaRP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A062D4F7-CD17-908B-C815-CDDC7EECE8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577718" y="5052271"/>
              <a:ext cx="201168" cy="201168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CB47AF2-25FC-3AD0-449C-4AD0BD395F15}"/>
              </a:ext>
            </a:extLst>
          </p:cNvPr>
          <p:cNvGrpSpPr/>
          <p:nvPr/>
        </p:nvGrpSpPr>
        <p:grpSpPr>
          <a:xfrm>
            <a:off x="4842803" y="5841542"/>
            <a:ext cx="676656" cy="658368"/>
            <a:chOff x="8066755" y="3385401"/>
            <a:chExt cx="676656" cy="658368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B275C401-7846-FD74-426D-3AAB6AF8D7B2}"/>
                </a:ext>
              </a:extLst>
            </p:cNvPr>
            <p:cNvGrpSpPr/>
            <p:nvPr/>
          </p:nvGrpSpPr>
          <p:grpSpPr>
            <a:xfrm>
              <a:off x="8075899" y="3385401"/>
              <a:ext cx="658368" cy="658368"/>
              <a:chOff x="2717229" y="4899401"/>
              <a:chExt cx="658368" cy="658368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49ECC7CF-035D-162B-CBEB-DB45C9E6295B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00C1BF"/>
              </a:solidFill>
              <a:ln>
                <a:noFill/>
              </a:ln>
              <a:effectLst>
                <a:outerShdw blurRad="63500" sx="103000" sy="103000" algn="ctr" rotWithShape="0">
                  <a:srgbClr val="00C1BF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8B60B407-50E5-4A3D-80B2-88FF5256FF9D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00C1BF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A707467-E5F6-8E18-3A32-489836235220}"/>
                </a:ext>
              </a:extLst>
            </p:cNvPr>
            <p:cNvSpPr txBox="1"/>
            <p:nvPr/>
          </p:nvSpPr>
          <p:spPr>
            <a:xfrm>
              <a:off x="8066755" y="3686097"/>
              <a:ext cx="6766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AI Prediction Tool</a:t>
              </a:r>
              <a:endParaRPr lang="en-US" sz="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endParaRPr>
            </a:p>
          </p:txBody>
        </p:sp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5C91D90A-81CA-A76B-F381-649FF9CF5EF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304499" y="3463236"/>
              <a:ext cx="201168" cy="201168"/>
            </a:xfrm>
            <a:prstGeom prst="rect">
              <a:avLst/>
            </a:prstGeom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C0C40D4-79DE-4A60-877C-176658904A26}"/>
              </a:ext>
            </a:extLst>
          </p:cNvPr>
          <p:cNvGrpSpPr/>
          <p:nvPr/>
        </p:nvGrpSpPr>
        <p:grpSpPr>
          <a:xfrm>
            <a:off x="3330491" y="5841542"/>
            <a:ext cx="676656" cy="658368"/>
            <a:chOff x="6635992" y="3386235"/>
            <a:chExt cx="676656" cy="658368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0F91E62F-01E3-8276-00B5-53046C039938}"/>
                </a:ext>
              </a:extLst>
            </p:cNvPr>
            <p:cNvGrpSpPr/>
            <p:nvPr/>
          </p:nvGrpSpPr>
          <p:grpSpPr>
            <a:xfrm>
              <a:off x="6645136" y="3386235"/>
              <a:ext cx="658368" cy="658368"/>
              <a:chOff x="2717229" y="4899401"/>
              <a:chExt cx="658368" cy="658368"/>
            </a:xfrm>
          </p:grpSpPr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9C29B314-DE7F-02AF-197A-2EF761DFF0A9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0084BE"/>
              </a:solidFill>
              <a:ln>
                <a:noFill/>
              </a:ln>
              <a:effectLst>
                <a:outerShdw blurRad="63500" sx="103000" sy="103000" algn="ctr" rotWithShape="0">
                  <a:srgbClr val="0084BE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6E527CB6-383C-950B-45CB-DD869448FAA3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0084BE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8444904-C070-03BD-354C-C8972D8B10B0}"/>
                </a:ext>
              </a:extLst>
            </p:cNvPr>
            <p:cNvSpPr txBox="1"/>
            <p:nvPr/>
          </p:nvSpPr>
          <p:spPr>
            <a:xfrm>
              <a:off x="6635992" y="3686931"/>
              <a:ext cx="6766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Email Engine</a:t>
              </a:r>
            </a:p>
          </p:txBody>
        </p:sp>
        <p:pic>
          <p:nvPicPr>
            <p:cNvPr id="61" name="Graphic 60">
              <a:extLst>
                <a:ext uri="{FF2B5EF4-FFF2-40B4-BE49-F238E27FC236}">
                  <a16:creationId xmlns:a16="http://schemas.microsoft.com/office/drawing/2014/main" id="{C9BB178E-F532-3566-C22B-782B2818DC2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873145" y="3466746"/>
              <a:ext cx="194231" cy="201168"/>
            </a:xfrm>
            <a:prstGeom prst="rect">
              <a:avLst/>
            </a:prstGeom>
          </p:spPr>
        </p:pic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CEBA3B17-FAAD-6BAD-A760-7E16554B7C97}"/>
              </a:ext>
            </a:extLst>
          </p:cNvPr>
          <p:cNvSpPr/>
          <p:nvPr/>
        </p:nvSpPr>
        <p:spPr>
          <a:xfrm>
            <a:off x="122872" y="118104"/>
            <a:ext cx="566928" cy="56692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01600" sx="110000" sy="110000" algn="ctr" rotWithShape="0">
              <a:srgbClr val="0066BE">
                <a:alpha val="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3538BD-01C6-54BE-35D6-32235D8EBE3B}"/>
              </a:ext>
            </a:extLst>
          </p:cNvPr>
          <p:cNvSpPr txBox="1"/>
          <p:nvPr/>
        </p:nvSpPr>
        <p:spPr>
          <a:xfrm>
            <a:off x="694466" y="263068"/>
            <a:ext cx="1888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A8CBE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AutoMail</a:t>
            </a:r>
            <a:endParaRPr lang="en-US" sz="1200" dirty="0">
              <a:solidFill>
                <a:srgbClr val="A8CBE9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3A4E6C-CF24-25FD-4803-A46217F4F42F}"/>
              </a:ext>
            </a:extLst>
          </p:cNvPr>
          <p:cNvSpPr txBox="1"/>
          <p:nvPr/>
        </p:nvSpPr>
        <p:spPr>
          <a:xfrm>
            <a:off x="478416" y="3606299"/>
            <a:ext cx="6630066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1200" dirty="0">
                <a:solidFill>
                  <a:srgbClr val="59748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Automate personalised email reminders and AI-recommended content for HCPs, who haven't been reached within your KPI timeframe. Streamline time-consuming tasks associated with standard HCP interactions to save you time and effort, ultimately enhancing HCP engagement.</a:t>
            </a:r>
            <a:br>
              <a:rPr lang="en-GB" sz="1200" dirty="0">
                <a:solidFill>
                  <a:srgbClr val="59748A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br>
              <a:rPr lang="en-GB" sz="1200" dirty="0">
                <a:solidFill>
                  <a:srgbClr val="59748A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en-GB" sz="1200" dirty="0">
                <a:solidFill>
                  <a:srgbClr val="59748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Designed exclusively for the life sciences sector, our comprehensive feature set makes this email tool the ultimate choice for enhancing relationships with HCPs</a:t>
            </a:r>
            <a:endParaRPr lang="en-US" sz="1200" dirty="0">
              <a:solidFill>
                <a:srgbClr val="59748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27BDB6-50B1-E417-F9CD-B5E4F2541FA2}"/>
              </a:ext>
            </a:extLst>
          </p:cNvPr>
          <p:cNvSpPr txBox="1"/>
          <p:nvPr/>
        </p:nvSpPr>
        <p:spPr>
          <a:xfrm>
            <a:off x="2583401" y="3031727"/>
            <a:ext cx="24200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rgbClr val="0066B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AutoMail</a:t>
            </a:r>
            <a:endParaRPr lang="en-US" sz="2000" b="1" dirty="0">
              <a:solidFill>
                <a:srgbClr val="0066BE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79E2AA-DC64-4F9B-6683-2292E8BFE0C3}"/>
              </a:ext>
            </a:extLst>
          </p:cNvPr>
          <p:cNvSpPr txBox="1"/>
          <p:nvPr/>
        </p:nvSpPr>
        <p:spPr>
          <a:xfrm>
            <a:off x="1148366" y="6063971"/>
            <a:ext cx="14225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A8CBE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Related modules |</a:t>
            </a:r>
            <a:endParaRPr lang="en-US" sz="1200" dirty="0">
              <a:solidFill>
                <a:srgbClr val="A8CBE9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95D4A5-2730-247B-B4FB-F0B3311F5F45}"/>
              </a:ext>
            </a:extLst>
          </p:cNvPr>
          <p:cNvSpPr txBox="1"/>
          <p:nvPr/>
        </p:nvSpPr>
        <p:spPr>
          <a:xfrm>
            <a:off x="8154186" y="1391463"/>
            <a:ext cx="2024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Key Features</a:t>
            </a:r>
            <a:endParaRPr lang="en-US" sz="20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B01F8D-0127-6ADD-32D1-5D35DF0218FE}"/>
              </a:ext>
            </a:extLst>
          </p:cNvPr>
          <p:cNvSpPr txBox="1"/>
          <p:nvPr/>
        </p:nvSpPr>
        <p:spPr>
          <a:xfrm>
            <a:off x="8237119" y="1928695"/>
            <a:ext cx="3954881" cy="2900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Two levels of AutoMail offerings </a:t>
            </a:r>
          </a:p>
          <a:p>
            <a:pPr marL="627063" lvl="1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Essential</a:t>
            </a:r>
          </a:p>
          <a:p>
            <a:pPr marL="627063" lvl="1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Predictive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Automated post-registration emails, reminders, etc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Predictive personalised automated emails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Increased engagement with pre-approved content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Customisable AutoMail settings</a:t>
            </a:r>
          </a:p>
        </p:txBody>
      </p:sp>
      <p:pic>
        <p:nvPicPr>
          <p:cNvPr id="3" name="Picture 2" descr="A screenshot of a phone&#10;&#10;Description automatically generated">
            <a:extLst>
              <a:ext uri="{FF2B5EF4-FFF2-40B4-BE49-F238E27FC236}">
                <a16:creationId xmlns:a16="http://schemas.microsoft.com/office/drawing/2014/main" id="{F71A446D-C983-3E7F-6CEC-E6BD1C80C02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50453" y="916751"/>
            <a:ext cx="4299339" cy="1875132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93572C03-4C69-D5BD-2889-ADEAD20B7A5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6316" y="241547"/>
            <a:ext cx="32004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628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binar Deck" id="{7A23AA72-971C-E242-B048-39576FC5F3DC}" vid="{A1799C23-9543-3846-A9C6-869377834B9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office theme</vt:lpstr>
      <vt:lpstr>Custom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6</cp:revision>
  <dcterms:created xsi:type="dcterms:W3CDTF">2013-07-15T20:26:40Z</dcterms:created>
  <dcterms:modified xsi:type="dcterms:W3CDTF">2023-10-17T12:20:06Z</dcterms:modified>
</cp:coreProperties>
</file>