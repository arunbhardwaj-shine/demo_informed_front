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714" r:id="rId2"/>
  </p:sldMasterIdLst>
  <p:sldIdLst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B448CAB-152F-4A27-A6A6-EE25556C3B88}" v="1" dt="2023-10-17T11:32:51.2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slide" Target="slides/slide1.xml"/><Relationship Id="rId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19FA3AC-8899-DC44-8ACE-DE70FCE85A10}"/>
              </a:ext>
            </a:extLst>
          </p:cNvPr>
          <p:cNvSpPr/>
          <p:nvPr userDrawn="1"/>
        </p:nvSpPr>
        <p:spPr>
          <a:xfrm>
            <a:off x="-1" y="-12699"/>
            <a:ext cx="11684001" cy="568960"/>
          </a:xfrm>
          <a:prstGeom prst="rect">
            <a:avLst/>
          </a:prstGeom>
          <a:solidFill>
            <a:srgbClr val="1F67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7">
            <a:extLst>
              <a:ext uri="{FF2B5EF4-FFF2-40B4-BE49-F238E27FC236}">
                <a16:creationId xmlns:a16="http://schemas.microsoft.com/office/drawing/2014/main" id="{64805866-AE00-6147-BF2C-BDEEC0238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2526" y="9526"/>
            <a:ext cx="10515600" cy="546910"/>
          </a:xfrm>
          <a:prstGeom prst="rect">
            <a:avLst/>
          </a:prstGeom>
        </p:spPr>
        <p:txBody>
          <a:bodyPr/>
          <a:lstStyle>
            <a:lvl1pPr algn="l">
              <a:defRPr sz="3200" b="0" i="0">
                <a:solidFill>
                  <a:schemeClr val="bg1"/>
                </a:solidFill>
                <a:latin typeface="Roboto Light" pitchFamily="2" charset="0"/>
                <a:ea typeface="Roboto Light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9" name="Text Placeholder 19">
            <a:extLst>
              <a:ext uri="{FF2B5EF4-FFF2-40B4-BE49-F238E27FC236}">
                <a16:creationId xmlns:a16="http://schemas.microsoft.com/office/drawing/2014/main" id="{BE429170-0933-7047-BB5C-5CBA2DD389C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4300" y="901700"/>
            <a:ext cx="10388600" cy="8255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E69B0"/>
                </a:solidFill>
                <a:latin typeface="Muli" pitchFamily="2" charset="77"/>
              </a:defRPr>
            </a:lvl1pPr>
            <a:lvl2pPr>
              <a:defRPr>
                <a:solidFill>
                  <a:srgbClr val="1E69B0"/>
                </a:solidFill>
                <a:latin typeface="Muli" pitchFamily="2" charset="77"/>
              </a:defRPr>
            </a:lvl2pPr>
            <a:lvl3pPr>
              <a:defRPr>
                <a:solidFill>
                  <a:srgbClr val="1E69B0"/>
                </a:solidFill>
                <a:latin typeface="Muli" pitchFamily="2" charset="77"/>
              </a:defRPr>
            </a:lvl3pPr>
            <a:lvl4pPr>
              <a:defRPr>
                <a:solidFill>
                  <a:srgbClr val="1E69B0"/>
                </a:solidFill>
                <a:latin typeface="Muli" pitchFamily="2" charset="77"/>
              </a:defRPr>
            </a:lvl4pPr>
            <a:lvl5pPr>
              <a:defRPr>
                <a:solidFill>
                  <a:srgbClr val="1E69B0"/>
                </a:solidFill>
                <a:latin typeface="Muli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44F52FE-25F1-FB42-BF78-727AE3F5A47F}"/>
              </a:ext>
            </a:extLst>
          </p:cNvPr>
          <p:cNvSpPr/>
          <p:nvPr userDrawn="1"/>
        </p:nvSpPr>
        <p:spPr>
          <a:xfrm>
            <a:off x="11801475" y="901700"/>
            <a:ext cx="390525" cy="241300"/>
          </a:xfrm>
          <a:prstGeom prst="rect">
            <a:avLst/>
          </a:prstGeom>
          <a:solidFill>
            <a:srgbClr val="1F66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949DD305-009C-624C-AB17-3DE215394C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36300" y="-12525"/>
            <a:ext cx="1155700" cy="115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1327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F3A82-0C89-6448-899F-3A09AE2B0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1041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solidFill>
          <a:srgbClr val="1E69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7">
            <a:extLst>
              <a:ext uri="{FF2B5EF4-FFF2-40B4-BE49-F238E27FC236}">
                <a16:creationId xmlns:a16="http://schemas.microsoft.com/office/drawing/2014/main" id="{728F80F8-A82B-CD46-9788-052B09169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2526" y="9526"/>
            <a:ext cx="10515600" cy="546910"/>
          </a:xfrm>
          <a:prstGeom prst="rect">
            <a:avLst/>
          </a:prstGeom>
        </p:spPr>
        <p:txBody>
          <a:bodyPr/>
          <a:lstStyle>
            <a:lvl1pPr algn="l">
              <a:defRPr sz="3200" b="0" i="0">
                <a:solidFill>
                  <a:schemeClr val="bg1"/>
                </a:solidFill>
                <a:latin typeface="Roboto Light" pitchFamily="2" charset="0"/>
                <a:ea typeface="Roboto Light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4" name="Text Placeholder 19">
            <a:extLst>
              <a:ext uri="{FF2B5EF4-FFF2-40B4-BE49-F238E27FC236}">
                <a16:creationId xmlns:a16="http://schemas.microsoft.com/office/drawing/2014/main" id="{9D837BB8-33C5-E34E-B9DD-07AF291488E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4300" y="901700"/>
            <a:ext cx="10388600" cy="8255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Muli" pitchFamily="2" charset="77"/>
              </a:defRPr>
            </a:lvl1pPr>
            <a:lvl2pPr>
              <a:defRPr>
                <a:solidFill>
                  <a:schemeClr val="bg1"/>
                </a:solidFill>
                <a:latin typeface="Muli" pitchFamily="2" charset="77"/>
              </a:defRPr>
            </a:lvl2pPr>
            <a:lvl3pPr>
              <a:defRPr>
                <a:solidFill>
                  <a:schemeClr val="bg1"/>
                </a:solidFill>
                <a:latin typeface="Muli" pitchFamily="2" charset="77"/>
              </a:defRPr>
            </a:lvl3pPr>
            <a:lvl4pPr>
              <a:defRPr>
                <a:solidFill>
                  <a:schemeClr val="bg1"/>
                </a:solidFill>
                <a:latin typeface="Muli" pitchFamily="2" charset="77"/>
              </a:defRPr>
            </a:lvl4pPr>
            <a:lvl5pPr>
              <a:defRPr>
                <a:solidFill>
                  <a:schemeClr val="bg1"/>
                </a:solidFill>
                <a:latin typeface="Muli" pitchFamily="2" charset="77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90037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873" y="752755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 sz="3600">
                <a:solidFill>
                  <a:srgbClr val="0265BE"/>
                </a:solidFill>
                <a:latin typeface="Roboto Regular"/>
                <a:cs typeface="Roboto Regular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873" y="2256117"/>
            <a:ext cx="10972800" cy="4280928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Muli" pitchFamily="2" charset="77"/>
                <a:cs typeface="Muli" pitchFamily="2" charset="77"/>
              </a:defRPr>
            </a:lvl1pPr>
            <a:lvl2pPr>
              <a:defRPr b="0" i="0">
                <a:latin typeface="Muli" pitchFamily="2" charset="77"/>
                <a:ea typeface="Roboto Light" pitchFamily="2" charset="0"/>
                <a:cs typeface="Muli" pitchFamily="2" charset="77"/>
              </a:defRPr>
            </a:lvl2pPr>
            <a:lvl3pPr>
              <a:defRPr sz="2400" b="0" i="0">
                <a:latin typeface="Muli" pitchFamily="2" charset="77"/>
                <a:ea typeface="Roboto Light" pitchFamily="2" charset="0"/>
                <a:cs typeface="Muli" pitchFamily="2" charset="77"/>
              </a:defRPr>
            </a:lvl3pPr>
            <a:lvl4pPr>
              <a:defRPr b="0" i="0">
                <a:latin typeface="Muli" pitchFamily="2" charset="77"/>
                <a:ea typeface="Roboto Light" pitchFamily="2" charset="0"/>
                <a:cs typeface="Muli" pitchFamily="2" charset="77"/>
              </a:defRPr>
            </a:lvl4pPr>
            <a:lvl5pPr>
              <a:defRPr b="0" i="0">
                <a:latin typeface="Muli" pitchFamily="2" charset="77"/>
                <a:ea typeface="Roboto Light" pitchFamily="2" charset="0"/>
                <a:cs typeface="Muli" pitchFamily="2" charset="77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95CFA89-2EB5-CB47-89F6-13D5D15C298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-25400"/>
            <a:ext cx="7272867" cy="39239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Roboto" pitchFamily="2" charset="0"/>
                <a:ea typeface="Roboto" pitchFamily="2" charset="0"/>
              </a:defRPr>
            </a:lvl1pPr>
          </a:lstStyle>
          <a:p>
            <a:pPr lvl="0"/>
            <a:r>
              <a:rPr lang="en-US" b="0" i="0" dirty="0">
                <a:latin typeface="Muli Light" pitchFamily="2" charset="77"/>
              </a:rPr>
              <a:t>Title goes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0423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873" y="752755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 sz="3600">
                <a:solidFill>
                  <a:srgbClr val="0265BE"/>
                </a:solidFill>
                <a:latin typeface="Roboto Regular"/>
                <a:cs typeface="Roboto Regular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873" y="2256117"/>
            <a:ext cx="10972800" cy="4280928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Muli" pitchFamily="2" charset="77"/>
                <a:cs typeface="Muli" pitchFamily="2" charset="77"/>
              </a:defRPr>
            </a:lvl1pPr>
            <a:lvl2pPr>
              <a:defRPr b="0" i="0">
                <a:latin typeface="Muli" pitchFamily="2" charset="77"/>
                <a:ea typeface="Roboto Light" pitchFamily="2" charset="0"/>
                <a:cs typeface="Muli" pitchFamily="2" charset="77"/>
              </a:defRPr>
            </a:lvl2pPr>
            <a:lvl3pPr>
              <a:defRPr sz="2400" b="0" i="0">
                <a:latin typeface="Muli" pitchFamily="2" charset="77"/>
                <a:ea typeface="Roboto Light" pitchFamily="2" charset="0"/>
                <a:cs typeface="Muli" pitchFamily="2" charset="77"/>
              </a:defRPr>
            </a:lvl3pPr>
            <a:lvl4pPr>
              <a:defRPr b="0" i="0">
                <a:latin typeface="Muli" pitchFamily="2" charset="77"/>
                <a:ea typeface="Roboto Light" pitchFamily="2" charset="0"/>
                <a:cs typeface="Muli" pitchFamily="2" charset="77"/>
              </a:defRPr>
            </a:lvl4pPr>
            <a:lvl5pPr>
              <a:defRPr b="0" i="0">
                <a:latin typeface="Muli" pitchFamily="2" charset="77"/>
                <a:ea typeface="Roboto Light" pitchFamily="2" charset="0"/>
                <a:cs typeface="Muli" pitchFamily="2" charset="77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95CFA89-2EB5-CB47-89F6-13D5D15C298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-25400"/>
            <a:ext cx="7272867" cy="39239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Roboto" pitchFamily="2" charset="0"/>
                <a:ea typeface="Roboto" pitchFamily="2" charset="0"/>
              </a:defRPr>
            </a:lvl1pPr>
          </a:lstStyle>
          <a:p>
            <a:pPr lvl="0"/>
            <a:r>
              <a:rPr lang="en-US" b="0" i="0" dirty="0">
                <a:latin typeface="Muli Light" pitchFamily="2" charset="77"/>
              </a:rPr>
              <a:t>Title goes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74759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42616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648" r:id="rId2"/>
    <p:sldLayoutId id="2147483715" r:id="rId3"/>
    <p:sldLayoutId id="2147483720" r:id="rId4"/>
    <p:sldLayoutId id="2147483721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.svg"/><Relationship Id="rId11" Type="http://schemas.openxmlformats.org/officeDocument/2006/relationships/image" Target="../media/image12.sv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1476FB6E-FED6-34D6-5BF6-6464FD2ADE21}"/>
              </a:ext>
            </a:extLst>
          </p:cNvPr>
          <p:cNvGrpSpPr/>
          <p:nvPr/>
        </p:nvGrpSpPr>
        <p:grpSpPr>
          <a:xfrm>
            <a:off x="4060093" y="5865432"/>
            <a:ext cx="676656" cy="658368"/>
            <a:chOff x="5073337" y="4958505"/>
            <a:chExt cx="676656" cy="658368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1E607BEE-2994-9FC5-3166-6C7AB9E1EF24}"/>
                </a:ext>
              </a:extLst>
            </p:cNvPr>
            <p:cNvGrpSpPr/>
            <p:nvPr/>
          </p:nvGrpSpPr>
          <p:grpSpPr>
            <a:xfrm>
              <a:off x="5082481" y="4958505"/>
              <a:ext cx="658368" cy="658368"/>
              <a:chOff x="2717229" y="4899401"/>
              <a:chExt cx="658368" cy="658368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C77BCC64-CE7E-3290-2EFC-B4F079716BF1}"/>
                  </a:ext>
                </a:extLst>
              </p:cNvPr>
              <p:cNvSpPr/>
              <p:nvPr/>
            </p:nvSpPr>
            <p:spPr>
              <a:xfrm>
                <a:off x="2753805" y="4935977"/>
                <a:ext cx="585216" cy="585216"/>
              </a:xfrm>
              <a:prstGeom prst="ellipse">
                <a:avLst/>
              </a:prstGeom>
              <a:solidFill>
                <a:srgbClr val="00D4C0"/>
              </a:solidFill>
              <a:ln>
                <a:noFill/>
              </a:ln>
              <a:effectLst>
                <a:outerShdw blurRad="63500" sx="103000" sy="103000" algn="ctr" rotWithShape="0">
                  <a:srgbClr val="00D4C0"/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22387968-4636-5674-9D15-394D3759B40F}"/>
                  </a:ext>
                </a:extLst>
              </p:cNvPr>
              <p:cNvSpPr/>
              <p:nvPr/>
            </p:nvSpPr>
            <p:spPr>
              <a:xfrm>
                <a:off x="2717229" y="4899401"/>
                <a:ext cx="658368" cy="658368"/>
              </a:xfrm>
              <a:prstGeom prst="ellipse">
                <a:avLst/>
              </a:prstGeom>
              <a:noFill/>
              <a:ln w="6350">
                <a:solidFill>
                  <a:srgbClr val="00D4C0"/>
                </a:solidFill>
                <a:prstDash val="dash"/>
                <a:beve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DA8B195-CBD0-BDE0-6697-59FE349ACA9C}"/>
                </a:ext>
              </a:extLst>
            </p:cNvPr>
            <p:cNvSpPr txBox="1"/>
            <p:nvPr/>
          </p:nvSpPr>
          <p:spPr>
            <a:xfrm>
              <a:off x="5073337" y="5259201"/>
              <a:ext cx="676656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600" dirty="0" err="1">
                  <a:solidFill>
                    <a:schemeClr val="bg1"/>
                  </a:solidFill>
                  <a:latin typeface="Roboto Medium" panose="02000000000000000000" pitchFamily="2" charset="0"/>
                  <a:ea typeface="Roboto Medium" panose="02000000000000000000" pitchFamily="2" charset="0"/>
                  <a:cs typeface="Roboto Medium" panose="02000000000000000000" pitchFamily="2" charset="0"/>
                </a:rPr>
                <a:t>Automail</a:t>
              </a:r>
              <a:endParaRPr lang="en-US" sz="600" dirty="0">
                <a:solidFill>
                  <a:schemeClr val="bg1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endParaRPr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C24C0EAB-FF2F-7627-6DB3-2A4F6B840BE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311081" y="5039745"/>
              <a:ext cx="201168" cy="201168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2DF1753-C4C8-BAF4-3FD3-41693DEC4DAF}"/>
              </a:ext>
            </a:extLst>
          </p:cNvPr>
          <p:cNvGrpSpPr/>
          <p:nvPr/>
        </p:nvGrpSpPr>
        <p:grpSpPr>
          <a:xfrm>
            <a:off x="3305251" y="5865432"/>
            <a:ext cx="676656" cy="658368"/>
            <a:chOff x="5926723" y="3391583"/>
            <a:chExt cx="676656" cy="658368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76CC1ABD-A2B8-4E27-E4D0-FB00EA92590E}"/>
                </a:ext>
              </a:extLst>
            </p:cNvPr>
            <p:cNvGrpSpPr/>
            <p:nvPr/>
          </p:nvGrpSpPr>
          <p:grpSpPr>
            <a:xfrm>
              <a:off x="5935867" y="3391583"/>
              <a:ext cx="658368" cy="658368"/>
              <a:chOff x="2717229" y="4899401"/>
              <a:chExt cx="658368" cy="658368"/>
            </a:xfrm>
          </p:grpSpPr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0AF9BC8C-C3FA-4399-2321-C528974ADA62}"/>
                  </a:ext>
                </a:extLst>
              </p:cNvPr>
              <p:cNvSpPr/>
              <p:nvPr/>
            </p:nvSpPr>
            <p:spPr>
              <a:xfrm>
                <a:off x="2753805" y="4935977"/>
                <a:ext cx="585216" cy="585216"/>
              </a:xfrm>
              <a:prstGeom prst="ellipse">
                <a:avLst/>
              </a:prstGeom>
              <a:solidFill>
                <a:srgbClr val="0066BE"/>
              </a:solidFill>
              <a:ln>
                <a:noFill/>
              </a:ln>
              <a:effectLst>
                <a:outerShdw blurRad="63500" sx="103000" sy="103000" algn="ctr" rotWithShape="0">
                  <a:srgbClr val="0066BE"/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F3C233E3-949F-4647-1AFB-F1E90D874EAC}"/>
                  </a:ext>
                </a:extLst>
              </p:cNvPr>
              <p:cNvSpPr/>
              <p:nvPr/>
            </p:nvSpPr>
            <p:spPr>
              <a:xfrm>
                <a:off x="2717229" y="4899401"/>
                <a:ext cx="658368" cy="658368"/>
              </a:xfrm>
              <a:prstGeom prst="ellipse">
                <a:avLst/>
              </a:prstGeom>
              <a:noFill/>
              <a:ln w="6350">
                <a:solidFill>
                  <a:srgbClr val="0066BE"/>
                </a:solidFill>
                <a:prstDash val="dash"/>
                <a:beve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170596A-0013-D2A5-5AA3-6136D7B6586D}"/>
                </a:ext>
              </a:extLst>
            </p:cNvPr>
            <p:cNvSpPr txBox="1"/>
            <p:nvPr/>
          </p:nvSpPr>
          <p:spPr>
            <a:xfrm>
              <a:off x="5926723" y="3692279"/>
              <a:ext cx="676656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dirty="0">
                  <a:solidFill>
                    <a:schemeClr val="bg1"/>
                  </a:solidFill>
                  <a:latin typeface="Roboto Medium" panose="02000000000000000000" pitchFamily="2" charset="0"/>
                  <a:ea typeface="Roboto Medium" panose="02000000000000000000" pitchFamily="2" charset="0"/>
                  <a:cs typeface="Roboto Medium" panose="02000000000000000000" pitchFamily="2" charset="0"/>
                </a:rPr>
                <a:t>Docintel.app</a:t>
              </a:r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F7DDEB23-AFF8-683A-7935-95941855F1E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164467" y="3475271"/>
              <a:ext cx="201168" cy="201168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389460A-79FA-7C18-91C3-F31A9E92B872}"/>
              </a:ext>
            </a:extLst>
          </p:cNvPr>
          <p:cNvGrpSpPr/>
          <p:nvPr/>
        </p:nvGrpSpPr>
        <p:grpSpPr>
          <a:xfrm>
            <a:off x="2546598" y="5865769"/>
            <a:ext cx="676656" cy="658368"/>
            <a:chOff x="3794956" y="3385401"/>
            <a:chExt cx="676656" cy="658368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1671450A-BB7F-FFFE-D105-4867C1F54665}"/>
                </a:ext>
              </a:extLst>
            </p:cNvPr>
            <p:cNvGrpSpPr/>
            <p:nvPr/>
          </p:nvGrpSpPr>
          <p:grpSpPr>
            <a:xfrm>
              <a:off x="3804100" y="3385401"/>
              <a:ext cx="658368" cy="658368"/>
              <a:chOff x="2717229" y="4899401"/>
              <a:chExt cx="658368" cy="658368"/>
            </a:xfrm>
          </p:grpSpPr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A80CFEC6-9510-0AEB-0CD4-74636221D3AC}"/>
                  </a:ext>
                </a:extLst>
              </p:cNvPr>
              <p:cNvSpPr/>
              <p:nvPr/>
            </p:nvSpPr>
            <p:spPr>
              <a:xfrm>
                <a:off x="2753805" y="4935977"/>
                <a:ext cx="585216" cy="585216"/>
              </a:xfrm>
              <a:prstGeom prst="ellipse">
                <a:avLst/>
              </a:prstGeom>
              <a:solidFill>
                <a:srgbClr val="5058AA"/>
              </a:solidFill>
              <a:ln>
                <a:noFill/>
              </a:ln>
              <a:effectLst>
                <a:outerShdw blurRad="63500" sx="103000" sy="103000" algn="ctr" rotWithShape="0">
                  <a:srgbClr val="5058AA"/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C97157B7-E997-CBA6-2B0D-20428AA2381A}"/>
                  </a:ext>
                </a:extLst>
              </p:cNvPr>
              <p:cNvSpPr/>
              <p:nvPr/>
            </p:nvSpPr>
            <p:spPr>
              <a:xfrm>
                <a:off x="2717229" y="4899401"/>
                <a:ext cx="658368" cy="658368"/>
              </a:xfrm>
              <a:prstGeom prst="ellipse">
                <a:avLst/>
              </a:prstGeom>
              <a:noFill/>
              <a:ln w="6350">
                <a:solidFill>
                  <a:srgbClr val="5058AA"/>
                </a:solidFill>
                <a:prstDash val="dash"/>
                <a:beve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B74F53D9-004C-0FA0-6856-04EE491BD163}"/>
                </a:ext>
              </a:extLst>
            </p:cNvPr>
            <p:cNvSpPr txBox="1"/>
            <p:nvPr/>
          </p:nvSpPr>
          <p:spPr>
            <a:xfrm>
              <a:off x="3794956" y="3686097"/>
              <a:ext cx="676656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dirty="0">
                  <a:solidFill>
                    <a:schemeClr val="bg1"/>
                  </a:solidFill>
                  <a:latin typeface="Roboto Medium" panose="02000000000000000000" pitchFamily="2" charset="0"/>
                  <a:ea typeface="Roboto Medium" panose="02000000000000000000" pitchFamily="2" charset="0"/>
                  <a:cs typeface="Roboto Medium" panose="02000000000000000000" pitchFamily="2" charset="0"/>
                </a:rPr>
                <a:t>Survey Engine</a:t>
              </a:r>
            </a:p>
          </p:txBody>
        </p:sp>
        <p:pic>
          <p:nvPicPr>
            <p:cNvPr id="54" name="Graphic 53">
              <a:extLst>
                <a:ext uri="{FF2B5EF4-FFF2-40B4-BE49-F238E27FC236}">
                  <a16:creationId xmlns:a16="http://schemas.microsoft.com/office/drawing/2014/main" id="{45245092-F17A-068F-D569-F3B1C925245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4027780" y="3487965"/>
              <a:ext cx="201168" cy="201168"/>
            </a:xfrm>
            <a:prstGeom prst="rect">
              <a:avLst/>
            </a:prstGeom>
          </p:spPr>
        </p:pic>
      </p:grpSp>
      <p:sp>
        <p:nvSpPr>
          <p:cNvPr id="2" name="Oval 1">
            <a:extLst>
              <a:ext uri="{FF2B5EF4-FFF2-40B4-BE49-F238E27FC236}">
                <a16:creationId xmlns:a16="http://schemas.microsoft.com/office/drawing/2014/main" id="{CEBA3B17-FAAD-6BAD-A760-7E16554B7C97}"/>
              </a:ext>
            </a:extLst>
          </p:cNvPr>
          <p:cNvSpPr/>
          <p:nvPr/>
        </p:nvSpPr>
        <p:spPr>
          <a:xfrm>
            <a:off x="122872" y="118104"/>
            <a:ext cx="566928" cy="566928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01600" sx="110000" sy="110000" algn="ctr" rotWithShape="0">
              <a:srgbClr val="0066BE">
                <a:alpha val="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3538BD-01C6-54BE-35D6-32235D8EBE3B}"/>
              </a:ext>
            </a:extLst>
          </p:cNvPr>
          <p:cNvSpPr txBox="1"/>
          <p:nvPr/>
        </p:nvSpPr>
        <p:spPr>
          <a:xfrm>
            <a:off x="694466" y="263068"/>
            <a:ext cx="18889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rgbClr val="A8CBE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Email engine</a:t>
            </a:r>
            <a:endParaRPr lang="en-US" sz="1200" dirty="0">
              <a:solidFill>
                <a:srgbClr val="A8CBE9"/>
              </a:solidFill>
              <a:latin typeface="Roboto Medium" panose="02000000000000000000" pitchFamily="2" charset="0"/>
              <a:ea typeface="Roboto Medium" panose="02000000000000000000" pitchFamily="2" charset="0"/>
              <a:cs typeface="Roboto Medium" panose="02000000000000000000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23A4E6C-CF24-25FD-4803-A46217F4F42F}"/>
              </a:ext>
            </a:extLst>
          </p:cNvPr>
          <p:cNvSpPr txBox="1"/>
          <p:nvPr/>
        </p:nvSpPr>
        <p:spPr>
          <a:xfrm>
            <a:off x="478416" y="3606299"/>
            <a:ext cx="6630066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GB" sz="1200" dirty="0">
                <a:solidFill>
                  <a:srgbClr val="59748A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Our email platform caters to the life science industry, designed for sending bulk emails with automated follow-ups tailored to each HCP's actions. It's commonly employed to invite HCPs to events or content launches using purchased lists, subject to email limits.</a:t>
            </a:r>
            <a:endParaRPr lang="en-US" sz="1200" dirty="0">
              <a:solidFill>
                <a:srgbClr val="59748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27BDB6-50B1-E417-F9CD-B5E4F2541FA2}"/>
              </a:ext>
            </a:extLst>
          </p:cNvPr>
          <p:cNvSpPr txBox="1"/>
          <p:nvPr/>
        </p:nvSpPr>
        <p:spPr>
          <a:xfrm>
            <a:off x="2583401" y="3031727"/>
            <a:ext cx="242009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b="1" dirty="0">
                <a:solidFill>
                  <a:srgbClr val="0066BE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Email engine</a:t>
            </a:r>
            <a:endParaRPr lang="en-US" sz="2000" b="1" dirty="0">
              <a:solidFill>
                <a:srgbClr val="0066BE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279E2AA-DC64-4F9B-6683-2292E8BFE0C3}"/>
              </a:ext>
            </a:extLst>
          </p:cNvPr>
          <p:cNvSpPr txBox="1"/>
          <p:nvPr/>
        </p:nvSpPr>
        <p:spPr>
          <a:xfrm>
            <a:off x="1148366" y="6063971"/>
            <a:ext cx="14225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rgbClr val="A8CBE9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Related modules |</a:t>
            </a:r>
            <a:endParaRPr lang="en-US" sz="1200" dirty="0">
              <a:solidFill>
                <a:srgbClr val="A8CBE9"/>
              </a:solidFill>
              <a:latin typeface="Roboto Medium" panose="02000000000000000000" pitchFamily="2" charset="0"/>
              <a:ea typeface="Roboto Medium" panose="02000000000000000000" pitchFamily="2" charset="0"/>
              <a:cs typeface="Roboto Medium" panose="02000000000000000000" pitchFamily="2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695D4A5-2730-247B-B4FB-F0B3311F5F45}"/>
              </a:ext>
            </a:extLst>
          </p:cNvPr>
          <p:cNvSpPr txBox="1"/>
          <p:nvPr/>
        </p:nvSpPr>
        <p:spPr>
          <a:xfrm>
            <a:off x="8154186" y="1391463"/>
            <a:ext cx="2024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Key Features</a:t>
            </a:r>
            <a:endParaRPr lang="en-US" sz="20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FB01F8D-0127-6ADD-32D1-5D35DF0218FE}"/>
              </a:ext>
            </a:extLst>
          </p:cNvPr>
          <p:cNvSpPr txBox="1"/>
          <p:nvPr/>
        </p:nvSpPr>
        <p:spPr>
          <a:xfrm>
            <a:off x="8237119" y="1928695"/>
            <a:ext cx="3854476" cy="20800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69863" indent="-169863">
              <a:lnSpc>
                <a:spcPts val="3200"/>
              </a:lnSpc>
              <a:buClr>
                <a:schemeClr val="bg1"/>
              </a:buClr>
              <a:buSzPct val="120000"/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Easy to use - built for the industry</a:t>
            </a:r>
          </a:p>
          <a:p>
            <a:pPr marL="169863" indent="-169863">
              <a:lnSpc>
                <a:spcPts val="3200"/>
              </a:lnSpc>
              <a:buClr>
                <a:schemeClr val="bg1"/>
              </a:buClr>
              <a:buSzPct val="120000"/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Dynamic SmartLists save you from excel-hell</a:t>
            </a:r>
          </a:p>
          <a:p>
            <a:pPr marL="169863" indent="-169863">
              <a:lnSpc>
                <a:spcPts val="3200"/>
              </a:lnSpc>
              <a:buClr>
                <a:schemeClr val="bg1"/>
              </a:buClr>
              <a:buSzPct val="120000"/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Track if HCP reads what you send</a:t>
            </a:r>
          </a:p>
          <a:p>
            <a:pPr marL="169863" indent="-169863">
              <a:lnSpc>
                <a:spcPts val="3200"/>
              </a:lnSpc>
              <a:buClr>
                <a:schemeClr val="bg1"/>
              </a:buClr>
              <a:buSzPct val="120000"/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Email &amp; content engagement stored in CRM</a:t>
            </a:r>
          </a:p>
          <a:p>
            <a:pPr marL="169863" indent="-169863">
              <a:lnSpc>
                <a:spcPts val="3200"/>
              </a:lnSpc>
              <a:buClr>
                <a:schemeClr val="bg1"/>
              </a:buClr>
              <a:buSzPct val="120000"/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Add-on AutoMail for AI-automation</a:t>
            </a:r>
            <a:endParaRPr lang="en-US" sz="12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57" name="Picture 56" descr="A screenshot of a computer&#10;&#10;Description automatically generated">
            <a:extLst>
              <a:ext uri="{FF2B5EF4-FFF2-40B4-BE49-F238E27FC236}">
                <a16:creationId xmlns:a16="http://schemas.microsoft.com/office/drawing/2014/main" id="{B276F13D-0155-58AE-EC97-98754010040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99319" y="898121"/>
            <a:ext cx="4673736" cy="1871561"/>
          </a:xfrm>
          <a:prstGeom prst="rect">
            <a:avLst/>
          </a:prstGeom>
        </p:spPr>
      </p:pic>
      <p:pic>
        <p:nvPicPr>
          <p:cNvPr id="58" name="Graphic 57">
            <a:extLst>
              <a:ext uri="{FF2B5EF4-FFF2-40B4-BE49-F238E27FC236}">
                <a16:creationId xmlns:a16="http://schemas.microsoft.com/office/drawing/2014/main" id="{28A9490C-3541-AB4B-7E69-B8F9A090212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46316" y="235832"/>
            <a:ext cx="320040" cy="331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27095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ebinar Deck" id="{7A23AA72-971C-E242-B048-39576FC5F3DC}" vid="{A1799C23-9543-3846-A9C6-869377834B9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office theme</vt:lpstr>
      <vt:lpstr>Custom Design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 </cp:lastModifiedBy>
  <cp:revision>6</cp:revision>
  <dcterms:created xsi:type="dcterms:W3CDTF">2013-07-15T20:26:40Z</dcterms:created>
  <dcterms:modified xsi:type="dcterms:W3CDTF">2023-10-17T11:33:04Z</dcterms:modified>
</cp:coreProperties>
</file>