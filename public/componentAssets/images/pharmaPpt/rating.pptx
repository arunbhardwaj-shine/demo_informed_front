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92C9F5-90BB-4235-97BB-7EB38EE98F9B}" v="1" dt="2023-10-17T12:21:31.1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sv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AF8F2D8-9D16-183A-4392-D465D5B699A1}"/>
              </a:ext>
            </a:extLst>
          </p:cNvPr>
          <p:cNvGrpSpPr/>
          <p:nvPr/>
        </p:nvGrpSpPr>
        <p:grpSpPr>
          <a:xfrm>
            <a:off x="2560167" y="5814869"/>
            <a:ext cx="676656" cy="658368"/>
            <a:chOff x="2868804" y="4955825"/>
            <a:chExt cx="676656" cy="658368"/>
          </a:xfrm>
        </p:grpSpPr>
        <p:grpSp>
          <p:nvGrpSpPr>
            <p:cNvPr id="6" name="Group 5">
              <a:extLst>
                <a:ext uri="{FF2B5EF4-FFF2-40B4-BE49-F238E27FC236}">
                  <a16:creationId xmlns:a16="http://schemas.microsoft.com/office/drawing/2014/main" id="{E6553B46-6F5C-62D3-AA4E-28D802026633}"/>
                </a:ext>
              </a:extLst>
            </p:cNvPr>
            <p:cNvGrpSpPr/>
            <p:nvPr/>
          </p:nvGrpSpPr>
          <p:grpSpPr>
            <a:xfrm>
              <a:off x="2880043" y="4955825"/>
              <a:ext cx="658368" cy="658368"/>
              <a:chOff x="2717229" y="4899401"/>
              <a:chExt cx="658368" cy="658368"/>
            </a:xfrm>
          </p:grpSpPr>
          <p:sp>
            <p:nvSpPr>
              <p:cNvPr id="11" name="Oval 10">
                <a:extLst>
                  <a:ext uri="{FF2B5EF4-FFF2-40B4-BE49-F238E27FC236}">
                    <a16:creationId xmlns:a16="http://schemas.microsoft.com/office/drawing/2014/main" id="{798673CE-D1C3-1D97-1EFC-D85CB9B85E85}"/>
                  </a:ext>
                </a:extLst>
              </p:cNvPr>
              <p:cNvSpPr/>
              <p:nvPr/>
            </p:nvSpPr>
            <p:spPr>
              <a:xfrm>
                <a:off x="2753805" y="4935977"/>
                <a:ext cx="585216" cy="585216"/>
              </a:xfrm>
              <a:prstGeom prst="ellipse">
                <a:avLst/>
              </a:prstGeom>
              <a:solidFill>
                <a:srgbClr val="6E52A2"/>
              </a:solidFill>
              <a:ln>
                <a:noFill/>
              </a:ln>
              <a:effectLst>
                <a:outerShdw blurRad="63500" sx="103000" sy="103000" algn="ctr" rotWithShape="0">
                  <a:srgbClr val="6E52A2"/>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07B80BEC-24CA-1192-7C3A-31485EC21254}"/>
                  </a:ext>
                </a:extLst>
              </p:cNvPr>
              <p:cNvSpPr/>
              <p:nvPr/>
            </p:nvSpPr>
            <p:spPr>
              <a:xfrm>
                <a:off x="2717229" y="4899401"/>
                <a:ext cx="658368" cy="658368"/>
              </a:xfrm>
              <a:prstGeom prst="ellipse">
                <a:avLst/>
              </a:prstGeom>
              <a:noFill/>
              <a:ln w="6350">
                <a:solidFill>
                  <a:srgbClr val="6E52A2"/>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5CAA1FE0-4E14-6C12-87EC-763E53B941C9}"/>
                </a:ext>
              </a:extLst>
            </p:cNvPr>
            <p:cNvSpPr txBox="1"/>
            <p:nvPr/>
          </p:nvSpPr>
          <p:spPr>
            <a:xfrm>
              <a:off x="2868804" y="5267884"/>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Web Portal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8" name="Graphic 7">
              <a:extLst>
                <a:ext uri="{FF2B5EF4-FFF2-40B4-BE49-F238E27FC236}">
                  <a16:creationId xmlns:a16="http://schemas.microsoft.com/office/drawing/2014/main" id="{719F2AEF-4601-BB1F-39A0-5D39E14D27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06548" y="5055680"/>
              <a:ext cx="201168" cy="201168"/>
            </a:xfrm>
            <a:prstGeom prst="rect">
              <a:avLst/>
            </a:prstGeom>
          </p:spPr>
        </p:pic>
      </p:grpSp>
      <p:grpSp>
        <p:nvGrpSpPr>
          <p:cNvPr id="13" name="Group 12">
            <a:extLst>
              <a:ext uri="{FF2B5EF4-FFF2-40B4-BE49-F238E27FC236}">
                <a16:creationId xmlns:a16="http://schemas.microsoft.com/office/drawing/2014/main" id="{761A0BB8-5E79-D4DC-839A-BC986D5205E1}"/>
              </a:ext>
            </a:extLst>
          </p:cNvPr>
          <p:cNvGrpSpPr/>
          <p:nvPr/>
        </p:nvGrpSpPr>
        <p:grpSpPr>
          <a:xfrm>
            <a:off x="4081455" y="5814869"/>
            <a:ext cx="676656" cy="658368"/>
            <a:chOff x="8066755" y="3385401"/>
            <a:chExt cx="676656" cy="658368"/>
          </a:xfrm>
        </p:grpSpPr>
        <p:grpSp>
          <p:nvGrpSpPr>
            <p:cNvPr id="15" name="Group 14">
              <a:extLst>
                <a:ext uri="{FF2B5EF4-FFF2-40B4-BE49-F238E27FC236}">
                  <a16:creationId xmlns:a16="http://schemas.microsoft.com/office/drawing/2014/main" id="{BB98CDE2-EFEF-EA5B-9CB7-78273069A07A}"/>
                </a:ext>
              </a:extLst>
            </p:cNvPr>
            <p:cNvGrpSpPr/>
            <p:nvPr/>
          </p:nvGrpSpPr>
          <p:grpSpPr>
            <a:xfrm>
              <a:off x="8075899" y="3385401"/>
              <a:ext cx="658368" cy="658368"/>
              <a:chOff x="2717229" y="4899401"/>
              <a:chExt cx="658368" cy="658368"/>
            </a:xfrm>
          </p:grpSpPr>
          <p:sp>
            <p:nvSpPr>
              <p:cNvPr id="18" name="Oval 17">
                <a:extLst>
                  <a:ext uri="{FF2B5EF4-FFF2-40B4-BE49-F238E27FC236}">
                    <a16:creationId xmlns:a16="http://schemas.microsoft.com/office/drawing/2014/main" id="{067D2331-40A4-2452-6623-BE0E4C24143D}"/>
                  </a:ext>
                </a:extLst>
              </p:cNvPr>
              <p:cNvSpPr/>
              <p:nvPr/>
            </p:nvSpPr>
            <p:spPr>
              <a:xfrm>
                <a:off x="2753805" y="4935977"/>
                <a:ext cx="585216" cy="585216"/>
              </a:xfrm>
              <a:prstGeom prst="ellipse">
                <a:avLst/>
              </a:prstGeom>
              <a:solidFill>
                <a:srgbClr val="00C1BF"/>
              </a:solidFill>
              <a:ln>
                <a:noFill/>
              </a:ln>
              <a:effectLst>
                <a:outerShdw blurRad="63500" sx="103000" sy="103000" algn="ctr" rotWithShape="0">
                  <a:srgbClr val="00C1BF"/>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4AFC02C9-C827-ABE7-93BB-0EAE0F9EC668}"/>
                  </a:ext>
                </a:extLst>
              </p:cNvPr>
              <p:cNvSpPr/>
              <p:nvPr/>
            </p:nvSpPr>
            <p:spPr>
              <a:xfrm>
                <a:off x="2717229" y="4899401"/>
                <a:ext cx="658368" cy="658368"/>
              </a:xfrm>
              <a:prstGeom prst="ellipse">
                <a:avLst/>
              </a:prstGeom>
              <a:noFill/>
              <a:ln w="6350">
                <a:solidFill>
                  <a:srgbClr val="00C1BF"/>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B759517E-F7E6-4A7A-A422-528A7C0C9F20}"/>
                </a:ext>
              </a:extLst>
            </p:cNvPr>
            <p:cNvSpPr txBox="1"/>
            <p:nvPr/>
          </p:nvSpPr>
          <p:spPr>
            <a:xfrm>
              <a:off x="8066755" y="3686097"/>
              <a:ext cx="676656" cy="276999"/>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AI Prediction Tool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17" name="Graphic 16">
              <a:extLst>
                <a:ext uri="{FF2B5EF4-FFF2-40B4-BE49-F238E27FC236}">
                  <a16:creationId xmlns:a16="http://schemas.microsoft.com/office/drawing/2014/main" id="{60F5B2AF-313C-DC04-006F-3F276D8805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04499" y="3463236"/>
              <a:ext cx="201168" cy="201168"/>
            </a:xfrm>
            <a:prstGeom prst="rect">
              <a:avLst/>
            </a:prstGeom>
          </p:spPr>
        </p:pic>
      </p:grpSp>
      <p:grpSp>
        <p:nvGrpSpPr>
          <p:cNvPr id="20" name="Group 19">
            <a:extLst>
              <a:ext uri="{FF2B5EF4-FFF2-40B4-BE49-F238E27FC236}">
                <a16:creationId xmlns:a16="http://schemas.microsoft.com/office/drawing/2014/main" id="{63AC6F71-8EBF-1DB8-3769-C65FEFB9BEDD}"/>
              </a:ext>
            </a:extLst>
          </p:cNvPr>
          <p:cNvGrpSpPr/>
          <p:nvPr/>
        </p:nvGrpSpPr>
        <p:grpSpPr>
          <a:xfrm>
            <a:off x="3322595" y="5814869"/>
            <a:ext cx="676656" cy="658368"/>
            <a:chOff x="5926723" y="3391583"/>
            <a:chExt cx="676656" cy="658368"/>
          </a:xfrm>
        </p:grpSpPr>
        <p:grpSp>
          <p:nvGrpSpPr>
            <p:cNvPr id="48" name="Group 47">
              <a:extLst>
                <a:ext uri="{FF2B5EF4-FFF2-40B4-BE49-F238E27FC236}">
                  <a16:creationId xmlns:a16="http://schemas.microsoft.com/office/drawing/2014/main" id="{4337FAC2-2842-AA6E-4BE6-77764B84C3F6}"/>
                </a:ext>
              </a:extLst>
            </p:cNvPr>
            <p:cNvGrpSpPr/>
            <p:nvPr/>
          </p:nvGrpSpPr>
          <p:grpSpPr>
            <a:xfrm>
              <a:off x="5935867" y="3391583"/>
              <a:ext cx="658368" cy="658368"/>
              <a:chOff x="2717229" y="4899401"/>
              <a:chExt cx="658368" cy="658368"/>
            </a:xfrm>
          </p:grpSpPr>
          <p:sp>
            <p:nvSpPr>
              <p:cNvPr id="51" name="Oval 50">
                <a:extLst>
                  <a:ext uri="{FF2B5EF4-FFF2-40B4-BE49-F238E27FC236}">
                    <a16:creationId xmlns:a16="http://schemas.microsoft.com/office/drawing/2014/main" id="{44CFB47B-86DF-BE6E-8DD1-D926E2600BDA}"/>
                  </a:ext>
                </a:extLst>
              </p:cNvPr>
              <p:cNvSpPr/>
              <p:nvPr/>
            </p:nvSpPr>
            <p:spPr>
              <a:xfrm>
                <a:off x="2753805" y="4935977"/>
                <a:ext cx="585216" cy="585216"/>
              </a:xfrm>
              <a:prstGeom prst="ellipse">
                <a:avLst/>
              </a:prstGeom>
              <a:solidFill>
                <a:srgbClr val="0066BE"/>
              </a:solidFill>
              <a:ln>
                <a:noFill/>
              </a:ln>
              <a:effectLst>
                <a:outerShdw blurRad="63500" sx="103000" sy="103000" algn="ctr" rotWithShape="0">
                  <a:srgbClr val="0066B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AB12217F-1AFE-5AA6-AED6-2DA36813F34A}"/>
                  </a:ext>
                </a:extLst>
              </p:cNvPr>
              <p:cNvSpPr/>
              <p:nvPr/>
            </p:nvSpPr>
            <p:spPr>
              <a:xfrm>
                <a:off x="2717229" y="4899401"/>
                <a:ext cx="658368" cy="658368"/>
              </a:xfrm>
              <a:prstGeom prst="ellipse">
                <a:avLst/>
              </a:prstGeom>
              <a:noFill/>
              <a:ln w="6350">
                <a:solidFill>
                  <a:srgbClr val="0066B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9" name="TextBox 48">
              <a:extLst>
                <a:ext uri="{FF2B5EF4-FFF2-40B4-BE49-F238E27FC236}">
                  <a16:creationId xmlns:a16="http://schemas.microsoft.com/office/drawing/2014/main" id="{825826B9-CDFA-51DB-01DB-D5C89BE94461}"/>
                </a:ext>
              </a:extLst>
            </p:cNvPr>
            <p:cNvSpPr txBox="1"/>
            <p:nvPr/>
          </p:nvSpPr>
          <p:spPr>
            <a:xfrm>
              <a:off x="5926723" y="3692279"/>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Docintel.app</a:t>
              </a:r>
            </a:p>
          </p:txBody>
        </p:sp>
        <p:pic>
          <p:nvPicPr>
            <p:cNvPr id="50" name="Graphic 49">
              <a:extLst>
                <a:ext uri="{FF2B5EF4-FFF2-40B4-BE49-F238E27FC236}">
                  <a16:creationId xmlns:a16="http://schemas.microsoft.com/office/drawing/2014/main" id="{F5B1BDBB-DD1E-B020-3C65-5A9D84B7B0B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64467" y="3475271"/>
              <a:ext cx="201168" cy="201168"/>
            </a:xfrm>
            <a:prstGeom prst="rect">
              <a:avLst/>
            </a:prstGeom>
          </p:spPr>
        </p:pic>
      </p:grpSp>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Rating Tool</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892552"/>
          </a:xfrm>
          <a:prstGeom prst="rect">
            <a:avLst/>
          </a:prstGeom>
          <a:noFill/>
        </p:spPr>
        <p:txBody>
          <a:bodyPr wrap="square">
            <a:spAutoFit/>
          </a:bodyPr>
          <a:lstStyle/>
          <a:p>
            <a:pPr algn="ctr">
              <a:lnSpc>
                <a:spcPct val="150000"/>
              </a:lnSpc>
            </a:pPr>
            <a:r>
              <a:rPr lang="en-GB" sz="1200" dirty="0">
                <a:solidFill>
                  <a:srgbClr val="59748A"/>
                </a:solidFill>
                <a:latin typeface="Roboto" panose="02000000000000000000" pitchFamily="2" charset="0"/>
                <a:ea typeface="Roboto" panose="02000000000000000000" pitchFamily="2" charset="0"/>
              </a:rPr>
              <a:t>Introducing our revolutionary Rating Tool to assess clinical value across your content and events. Gather crucial insights the moment HCPs engage with you. Learn their collective thoughts, focus on exceptional content enabling you to drive a new level of engagement.</a:t>
            </a:r>
            <a:endParaRPr lang="en-US" sz="1200" dirty="0">
              <a:solidFill>
                <a:srgbClr val="59748A"/>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83401" y="3031727"/>
            <a:ext cx="2420096" cy="400110"/>
          </a:xfrm>
          <a:prstGeom prst="rect">
            <a:avLst/>
          </a:prstGeom>
          <a:noFill/>
        </p:spPr>
        <p:txBody>
          <a:bodyPr wrap="square">
            <a:spAutoFit/>
          </a:bodyPr>
          <a:lstStyle/>
          <a:p>
            <a:pPr algn="ctr"/>
            <a:r>
              <a:rPr lang="en-GB" sz="2000" b="1" dirty="0">
                <a:solidFill>
                  <a:srgbClr val="0066BE"/>
                </a:solidFill>
                <a:effectLst/>
                <a:latin typeface="Roboto" panose="02000000000000000000" pitchFamily="2" charset="0"/>
                <a:ea typeface="Roboto" panose="02000000000000000000" pitchFamily="2" charset="0"/>
                <a:cs typeface="Roboto" panose="02000000000000000000" pitchFamily="2" charset="0"/>
              </a:rPr>
              <a:t>Rating Tool</a:t>
            </a:r>
            <a:endParaRPr lang="en-US" sz="2000" b="1" dirty="0">
              <a:solidFill>
                <a:srgbClr val="0066BE"/>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3954881" cy="2080057"/>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Let HCPs rate your content</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Commission better content based on HCP opinions</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HCPs can easily rate content whenever they engage via browser or in-app</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Build better data sets to feed your AI</a:t>
            </a:r>
          </a:p>
        </p:txBody>
      </p:sp>
      <p:pic>
        <p:nvPicPr>
          <p:cNvPr id="3" name="Picture 2" descr="A blue and green stars on a white background&#10;&#10;Description automatically generated">
            <a:extLst>
              <a:ext uri="{FF2B5EF4-FFF2-40B4-BE49-F238E27FC236}">
                <a16:creationId xmlns:a16="http://schemas.microsoft.com/office/drawing/2014/main" id="{07F87B9D-C82B-56B4-4DA2-8F0BAA4BC0D0}"/>
              </a:ext>
            </a:extLst>
          </p:cNvPr>
          <p:cNvPicPr>
            <a:picLocks noChangeAspect="1"/>
          </p:cNvPicPr>
          <p:nvPr/>
        </p:nvPicPr>
        <p:blipFill>
          <a:blip r:embed="rId9"/>
          <a:stretch>
            <a:fillRect/>
          </a:stretch>
        </p:blipFill>
        <p:spPr>
          <a:xfrm>
            <a:off x="1536755" y="953611"/>
            <a:ext cx="4815264" cy="1656966"/>
          </a:xfrm>
          <a:prstGeom prst="rect">
            <a:avLst/>
          </a:prstGeom>
        </p:spPr>
      </p:pic>
      <p:pic>
        <p:nvPicPr>
          <p:cNvPr id="53" name="Graphic 52">
            <a:extLst>
              <a:ext uri="{FF2B5EF4-FFF2-40B4-BE49-F238E27FC236}">
                <a16:creationId xmlns:a16="http://schemas.microsoft.com/office/drawing/2014/main" id="{0F306941-DA14-1542-D983-5B2BABE9741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46316" y="230789"/>
            <a:ext cx="320040" cy="320040"/>
          </a:xfrm>
          <a:prstGeom prst="rect">
            <a:avLst/>
          </a:prstGeom>
        </p:spPr>
      </p:pic>
    </p:spTree>
    <p:extLst>
      <p:ext uri="{BB962C8B-B14F-4D97-AF65-F5344CB8AC3E}">
        <p14:creationId xmlns:p14="http://schemas.microsoft.com/office/powerpoint/2010/main" val="23669078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cp:revision>
  <dcterms:created xsi:type="dcterms:W3CDTF">2013-07-15T20:26:40Z</dcterms:created>
  <dcterms:modified xsi:type="dcterms:W3CDTF">2023-10-17T12:21:40Z</dcterms:modified>
</cp:coreProperties>
</file>