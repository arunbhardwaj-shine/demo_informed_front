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14" r:id="rId2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44E6F5-B091-4387-AE66-37CFA9B58904}" v="1" dt="2023-10-17T12:18:02.8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9FA3AC-8899-DC44-8ACE-DE70FCE85A10}"/>
              </a:ext>
            </a:extLst>
          </p:cNvPr>
          <p:cNvSpPr/>
          <p:nvPr userDrawn="1"/>
        </p:nvSpPr>
        <p:spPr>
          <a:xfrm>
            <a:off x="-1" y="-12699"/>
            <a:ext cx="11684001" cy="568960"/>
          </a:xfrm>
          <a:prstGeom prst="rect">
            <a:avLst/>
          </a:prstGeom>
          <a:solidFill>
            <a:srgbClr val="1F67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7">
            <a:extLst>
              <a:ext uri="{FF2B5EF4-FFF2-40B4-BE49-F238E27FC236}">
                <a16:creationId xmlns:a16="http://schemas.microsoft.com/office/drawing/2014/main" id="{64805866-AE00-6147-BF2C-BDEEC0238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526" y="9526"/>
            <a:ext cx="10515600" cy="546910"/>
          </a:xfrm>
          <a:prstGeom prst="rect">
            <a:avLst/>
          </a:prstGeom>
        </p:spPr>
        <p:txBody>
          <a:bodyPr/>
          <a:lstStyle>
            <a:lvl1pPr algn="l">
              <a:defRPr sz="3200" b="0" i="0">
                <a:solidFill>
                  <a:schemeClr val="bg1"/>
                </a:solidFill>
                <a:latin typeface="Roboto Light" pitchFamily="2" charset="0"/>
                <a:ea typeface="Roboto Light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BE429170-0933-7047-BB5C-5CBA2DD389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300" y="901700"/>
            <a:ext cx="10388600" cy="825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E69B0"/>
                </a:solidFill>
                <a:latin typeface="Muli" pitchFamily="2" charset="77"/>
              </a:defRPr>
            </a:lvl1pPr>
            <a:lvl2pPr>
              <a:defRPr>
                <a:solidFill>
                  <a:srgbClr val="1E69B0"/>
                </a:solidFill>
                <a:latin typeface="Muli" pitchFamily="2" charset="77"/>
              </a:defRPr>
            </a:lvl2pPr>
            <a:lvl3pPr>
              <a:defRPr>
                <a:solidFill>
                  <a:srgbClr val="1E69B0"/>
                </a:solidFill>
                <a:latin typeface="Muli" pitchFamily="2" charset="77"/>
              </a:defRPr>
            </a:lvl3pPr>
            <a:lvl4pPr>
              <a:defRPr>
                <a:solidFill>
                  <a:srgbClr val="1E69B0"/>
                </a:solidFill>
                <a:latin typeface="Muli" pitchFamily="2" charset="77"/>
              </a:defRPr>
            </a:lvl4pPr>
            <a:lvl5pPr>
              <a:defRPr>
                <a:solidFill>
                  <a:srgbClr val="1E69B0"/>
                </a:solidFill>
                <a:latin typeface="Muli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4F52FE-25F1-FB42-BF78-727AE3F5A47F}"/>
              </a:ext>
            </a:extLst>
          </p:cNvPr>
          <p:cNvSpPr/>
          <p:nvPr userDrawn="1"/>
        </p:nvSpPr>
        <p:spPr>
          <a:xfrm>
            <a:off x="11801475" y="901700"/>
            <a:ext cx="390525" cy="241300"/>
          </a:xfrm>
          <a:prstGeom prst="rect">
            <a:avLst/>
          </a:prstGeom>
          <a:solidFill>
            <a:srgbClr val="1F66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49DD305-009C-624C-AB17-3DE215394C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36300" y="-12525"/>
            <a:ext cx="1155700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327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F3A82-0C89-6448-899F-3A09AE2B0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1041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1E69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7">
            <a:extLst>
              <a:ext uri="{FF2B5EF4-FFF2-40B4-BE49-F238E27FC236}">
                <a16:creationId xmlns:a16="http://schemas.microsoft.com/office/drawing/2014/main" id="{728F80F8-A82B-CD46-9788-052B09169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526" y="9526"/>
            <a:ext cx="10515600" cy="546910"/>
          </a:xfrm>
          <a:prstGeom prst="rect">
            <a:avLst/>
          </a:prstGeom>
        </p:spPr>
        <p:txBody>
          <a:bodyPr/>
          <a:lstStyle>
            <a:lvl1pPr algn="l">
              <a:defRPr sz="3200" b="0" i="0">
                <a:solidFill>
                  <a:schemeClr val="bg1"/>
                </a:solidFill>
                <a:latin typeface="Roboto Light" pitchFamily="2" charset="0"/>
                <a:ea typeface="Roboto Light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9D837BB8-33C5-E34E-B9DD-07AF291488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300" y="901700"/>
            <a:ext cx="10388600" cy="825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Muli" pitchFamily="2" charset="77"/>
              </a:defRPr>
            </a:lvl1pPr>
            <a:lvl2pPr>
              <a:defRPr>
                <a:solidFill>
                  <a:schemeClr val="bg1"/>
                </a:solidFill>
                <a:latin typeface="Muli" pitchFamily="2" charset="77"/>
              </a:defRPr>
            </a:lvl2pPr>
            <a:lvl3pPr>
              <a:defRPr>
                <a:solidFill>
                  <a:schemeClr val="bg1"/>
                </a:solidFill>
                <a:latin typeface="Muli" pitchFamily="2" charset="77"/>
              </a:defRPr>
            </a:lvl3pPr>
            <a:lvl4pPr>
              <a:defRPr>
                <a:solidFill>
                  <a:schemeClr val="bg1"/>
                </a:solidFill>
                <a:latin typeface="Muli" pitchFamily="2" charset="77"/>
              </a:defRPr>
            </a:lvl4pPr>
            <a:lvl5pPr>
              <a:defRPr>
                <a:solidFill>
                  <a:schemeClr val="bg1"/>
                </a:solidFill>
                <a:latin typeface="Muli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0037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873" y="752755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0265BE"/>
                </a:solidFill>
                <a:latin typeface="Roboto Regular"/>
                <a:cs typeface="Roboto Regular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873" y="2256117"/>
            <a:ext cx="10972800" cy="4280928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Muli" pitchFamily="2" charset="77"/>
                <a:cs typeface="Muli" pitchFamily="2" charset="77"/>
              </a:defRPr>
            </a:lvl1pPr>
            <a:lvl2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2pPr>
            <a:lvl3pPr>
              <a:defRPr sz="2400" b="0" i="0">
                <a:latin typeface="Muli" pitchFamily="2" charset="77"/>
                <a:ea typeface="Roboto Light" pitchFamily="2" charset="0"/>
                <a:cs typeface="Muli" pitchFamily="2" charset="77"/>
              </a:defRPr>
            </a:lvl3pPr>
            <a:lvl4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4pPr>
            <a:lvl5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95CFA89-2EB5-CB47-89F6-13D5D15C29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-25400"/>
            <a:ext cx="7272867" cy="3923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Roboto" pitchFamily="2" charset="0"/>
                <a:ea typeface="Roboto" pitchFamily="2" charset="0"/>
              </a:defRPr>
            </a:lvl1pPr>
          </a:lstStyle>
          <a:p>
            <a:pPr lvl="0"/>
            <a:r>
              <a:rPr lang="en-US" b="0" i="0" dirty="0">
                <a:latin typeface="Muli Light" pitchFamily="2" charset="77"/>
              </a:rPr>
              <a:t>Title goes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423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873" y="752755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0265BE"/>
                </a:solidFill>
                <a:latin typeface="Roboto Regular"/>
                <a:cs typeface="Roboto Regular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873" y="2256117"/>
            <a:ext cx="10972800" cy="4280928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Muli" pitchFamily="2" charset="77"/>
                <a:cs typeface="Muli" pitchFamily="2" charset="77"/>
              </a:defRPr>
            </a:lvl1pPr>
            <a:lvl2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2pPr>
            <a:lvl3pPr>
              <a:defRPr sz="2400" b="0" i="0">
                <a:latin typeface="Muli" pitchFamily="2" charset="77"/>
                <a:ea typeface="Roboto Light" pitchFamily="2" charset="0"/>
                <a:cs typeface="Muli" pitchFamily="2" charset="77"/>
              </a:defRPr>
            </a:lvl3pPr>
            <a:lvl4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4pPr>
            <a:lvl5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95CFA89-2EB5-CB47-89F6-13D5D15C29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-25400"/>
            <a:ext cx="7272867" cy="3923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Roboto" pitchFamily="2" charset="0"/>
                <a:ea typeface="Roboto" pitchFamily="2" charset="0"/>
              </a:defRPr>
            </a:lvl1pPr>
          </a:lstStyle>
          <a:p>
            <a:pPr lvl="0"/>
            <a:r>
              <a:rPr lang="en-US" b="0" i="0" dirty="0">
                <a:latin typeface="Muli Light" pitchFamily="2" charset="77"/>
              </a:rPr>
              <a:t>Title goes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475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4261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648" r:id="rId2"/>
    <p:sldLayoutId id="2147483715" r:id="rId3"/>
    <p:sldLayoutId id="2147483720" r:id="rId4"/>
    <p:sldLayoutId id="214748372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6E5041A-AE2D-3AC6-4892-435C5205A5AF}"/>
              </a:ext>
            </a:extLst>
          </p:cNvPr>
          <p:cNvGrpSpPr/>
          <p:nvPr/>
        </p:nvGrpSpPr>
        <p:grpSpPr>
          <a:xfrm>
            <a:off x="2555742" y="5864166"/>
            <a:ext cx="676656" cy="658368"/>
            <a:chOff x="2868804" y="4955825"/>
            <a:chExt cx="676656" cy="65836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8F243E9-379F-1E0C-C857-0060CA8B0F1F}"/>
                </a:ext>
              </a:extLst>
            </p:cNvPr>
            <p:cNvGrpSpPr/>
            <p:nvPr/>
          </p:nvGrpSpPr>
          <p:grpSpPr>
            <a:xfrm>
              <a:off x="2880043" y="4955825"/>
              <a:ext cx="658368" cy="658368"/>
              <a:chOff x="2717229" y="4899401"/>
              <a:chExt cx="658368" cy="658368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9C06EC27-59E2-F6DC-653C-1BFDCB1369B9}"/>
                  </a:ext>
                </a:extLst>
              </p:cNvPr>
              <p:cNvSpPr/>
              <p:nvPr/>
            </p:nvSpPr>
            <p:spPr>
              <a:xfrm>
                <a:off x="2753805" y="4935977"/>
                <a:ext cx="585216" cy="585216"/>
              </a:xfrm>
              <a:prstGeom prst="ellipse">
                <a:avLst/>
              </a:prstGeom>
              <a:solidFill>
                <a:srgbClr val="6E52A2"/>
              </a:solidFill>
              <a:ln>
                <a:noFill/>
              </a:ln>
              <a:effectLst>
                <a:outerShdw blurRad="63500" sx="103000" sy="103000" algn="ctr" rotWithShape="0">
                  <a:srgbClr val="6E52A2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E823A02F-6CBA-E27A-AE1A-053071B6A411}"/>
                  </a:ext>
                </a:extLst>
              </p:cNvPr>
              <p:cNvSpPr/>
              <p:nvPr/>
            </p:nvSpPr>
            <p:spPr>
              <a:xfrm>
                <a:off x="2717229" y="4899401"/>
                <a:ext cx="658368" cy="658368"/>
              </a:xfrm>
              <a:prstGeom prst="ellipse">
                <a:avLst/>
              </a:prstGeom>
              <a:noFill/>
              <a:ln w="6350">
                <a:solidFill>
                  <a:srgbClr val="6E52A2"/>
                </a:solidFill>
                <a:prstDash val="dash"/>
                <a:beve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1840BC7-9739-0BF7-54C3-2A15E9F5B443}"/>
                </a:ext>
              </a:extLst>
            </p:cNvPr>
            <p:cNvSpPr txBox="1"/>
            <p:nvPr/>
          </p:nvSpPr>
          <p:spPr>
            <a:xfrm>
              <a:off x="2868804" y="5267884"/>
              <a:ext cx="67665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dirty="0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  <a:cs typeface="Roboto Medium" panose="02000000000000000000" pitchFamily="2" charset="0"/>
                </a:rPr>
                <a:t>Web Portal</a:t>
              </a:r>
              <a:endParaRPr lang="en-US" sz="6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endParaRP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BBB72995-77B2-1988-DC92-036BD7AF3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106548" y="5055680"/>
              <a:ext cx="201168" cy="201168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8622A99-E475-56BD-F907-B3DA15969251}"/>
              </a:ext>
            </a:extLst>
          </p:cNvPr>
          <p:cNvGrpSpPr/>
          <p:nvPr/>
        </p:nvGrpSpPr>
        <p:grpSpPr>
          <a:xfrm>
            <a:off x="3314395" y="5864166"/>
            <a:ext cx="676656" cy="658368"/>
            <a:chOff x="3601278" y="4955825"/>
            <a:chExt cx="676656" cy="658368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E5B8CA1-1B06-0BAF-DAD3-C75C8EB536C3}"/>
                </a:ext>
              </a:extLst>
            </p:cNvPr>
            <p:cNvGrpSpPr/>
            <p:nvPr/>
          </p:nvGrpSpPr>
          <p:grpSpPr>
            <a:xfrm>
              <a:off x="3615755" y="4955825"/>
              <a:ext cx="658368" cy="658368"/>
              <a:chOff x="2717229" y="4899401"/>
              <a:chExt cx="658368" cy="658368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CD3C4611-31D4-842A-FA47-D934BE1E0703}"/>
                  </a:ext>
                </a:extLst>
              </p:cNvPr>
              <p:cNvSpPr/>
              <p:nvPr/>
            </p:nvSpPr>
            <p:spPr>
              <a:xfrm>
                <a:off x="2753805" y="4935977"/>
                <a:ext cx="585216" cy="585216"/>
              </a:xfrm>
              <a:prstGeom prst="ellipse">
                <a:avLst/>
              </a:prstGeom>
              <a:solidFill>
                <a:srgbClr val="045FAE"/>
              </a:solidFill>
              <a:ln>
                <a:noFill/>
              </a:ln>
              <a:effectLst>
                <a:outerShdw blurRad="63500" sx="103000" sy="103000" algn="ctr" rotWithShape="0">
                  <a:srgbClr val="045FAE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94D4DBF-6143-9D25-F29F-2F4EEE4E3972}"/>
                  </a:ext>
                </a:extLst>
              </p:cNvPr>
              <p:cNvSpPr/>
              <p:nvPr/>
            </p:nvSpPr>
            <p:spPr>
              <a:xfrm>
                <a:off x="2717229" y="4899401"/>
                <a:ext cx="658368" cy="658368"/>
              </a:xfrm>
              <a:prstGeom prst="ellipse">
                <a:avLst/>
              </a:prstGeom>
              <a:noFill/>
              <a:ln w="6350">
                <a:solidFill>
                  <a:srgbClr val="045FAE"/>
                </a:solidFill>
                <a:prstDash val="dash"/>
                <a:beve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EED1460-0454-AF54-389B-0AFCA7505C6E}"/>
                </a:ext>
              </a:extLst>
            </p:cNvPr>
            <p:cNvSpPr txBox="1"/>
            <p:nvPr/>
          </p:nvSpPr>
          <p:spPr>
            <a:xfrm>
              <a:off x="3601278" y="5267884"/>
              <a:ext cx="67665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dirty="0" err="1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  <a:cs typeface="Roboto Medium" panose="02000000000000000000" pitchFamily="2" charset="0"/>
                </a:rPr>
                <a:t>inforMedGo</a:t>
              </a:r>
              <a:endParaRPr lang="en-US" sz="6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endParaRPr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CEBD2D34-4C15-92E3-30EE-F975C924D74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839022" y="5052271"/>
              <a:ext cx="201168" cy="201168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A90C31B-AF43-155E-BE59-12828E448C5D}"/>
              </a:ext>
            </a:extLst>
          </p:cNvPr>
          <p:cNvGrpSpPr/>
          <p:nvPr/>
        </p:nvGrpSpPr>
        <p:grpSpPr>
          <a:xfrm>
            <a:off x="4837160" y="5864166"/>
            <a:ext cx="676656" cy="658368"/>
            <a:chOff x="8066755" y="3385401"/>
            <a:chExt cx="676656" cy="658368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7FEC04D1-EA10-D51C-82CE-75681145700E}"/>
                </a:ext>
              </a:extLst>
            </p:cNvPr>
            <p:cNvGrpSpPr/>
            <p:nvPr/>
          </p:nvGrpSpPr>
          <p:grpSpPr>
            <a:xfrm>
              <a:off x="8075899" y="3385401"/>
              <a:ext cx="658368" cy="658368"/>
              <a:chOff x="2717229" y="4899401"/>
              <a:chExt cx="658368" cy="658368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0C3F94F4-04B4-BCC0-AF90-1EA2F483ED8A}"/>
                  </a:ext>
                </a:extLst>
              </p:cNvPr>
              <p:cNvSpPr/>
              <p:nvPr/>
            </p:nvSpPr>
            <p:spPr>
              <a:xfrm>
                <a:off x="2753805" y="4935977"/>
                <a:ext cx="585216" cy="585216"/>
              </a:xfrm>
              <a:prstGeom prst="ellipse">
                <a:avLst/>
              </a:prstGeom>
              <a:solidFill>
                <a:srgbClr val="00C1BF"/>
              </a:solidFill>
              <a:ln>
                <a:noFill/>
              </a:ln>
              <a:effectLst>
                <a:outerShdw blurRad="63500" sx="103000" sy="103000" algn="ctr" rotWithShape="0">
                  <a:srgbClr val="00C1BF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4E6FE7C1-350C-FE5C-F8AA-60A8D1942B6A}"/>
                  </a:ext>
                </a:extLst>
              </p:cNvPr>
              <p:cNvSpPr/>
              <p:nvPr/>
            </p:nvSpPr>
            <p:spPr>
              <a:xfrm>
                <a:off x="2717229" y="4899401"/>
                <a:ext cx="658368" cy="658368"/>
              </a:xfrm>
              <a:prstGeom prst="ellipse">
                <a:avLst/>
              </a:prstGeom>
              <a:noFill/>
              <a:ln w="6350">
                <a:solidFill>
                  <a:srgbClr val="00C1BF"/>
                </a:solidFill>
                <a:prstDash val="dash"/>
                <a:beve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7B92BAD-B293-756D-4D58-8EE50E2F1BF0}"/>
                </a:ext>
              </a:extLst>
            </p:cNvPr>
            <p:cNvSpPr txBox="1"/>
            <p:nvPr/>
          </p:nvSpPr>
          <p:spPr>
            <a:xfrm>
              <a:off x="8066755" y="3686097"/>
              <a:ext cx="6766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dirty="0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  <a:cs typeface="Roboto Medium" panose="02000000000000000000" pitchFamily="2" charset="0"/>
                </a:rPr>
                <a:t>AI Prediction Tool</a:t>
              </a:r>
              <a:endParaRPr lang="en-US" sz="6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endParaRPr>
            </a:p>
          </p:txBody>
        </p:sp>
        <p:pic>
          <p:nvPicPr>
            <p:cNvPr id="55" name="Graphic 54">
              <a:extLst>
                <a:ext uri="{FF2B5EF4-FFF2-40B4-BE49-F238E27FC236}">
                  <a16:creationId xmlns:a16="http://schemas.microsoft.com/office/drawing/2014/main" id="{8B5C78DF-4028-8C0F-6209-4BEA6C57013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304499" y="3463236"/>
              <a:ext cx="201168" cy="201168"/>
            </a:xfrm>
            <a:prstGeom prst="rect">
              <a:avLst/>
            </a:prstGeom>
          </p:spPr>
        </p:pic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CB68483-9CCB-47C3-4B7C-5FFECCC42B22}"/>
              </a:ext>
            </a:extLst>
          </p:cNvPr>
          <p:cNvGrpSpPr/>
          <p:nvPr/>
        </p:nvGrpSpPr>
        <p:grpSpPr>
          <a:xfrm>
            <a:off x="4070551" y="5864166"/>
            <a:ext cx="676656" cy="658368"/>
            <a:chOff x="5926723" y="3391583"/>
            <a:chExt cx="676656" cy="658368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19E20F71-D832-D345-B886-41D9B7A5EA53}"/>
                </a:ext>
              </a:extLst>
            </p:cNvPr>
            <p:cNvGrpSpPr/>
            <p:nvPr/>
          </p:nvGrpSpPr>
          <p:grpSpPr>
            <a:xfrm>
              <a:off x="5935867" y="3391583"/>
              <a:ext cx="658368" cy="658368"/>
              <a:chOff x="2717229" y="4899401"/>
              <a:chExt cx="658368" cy="658368"/>
            </a:xfrm>
          </p:grpSpPr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C50D77C8-25AD-BA7B-3840-0F6D4D90980D}"/>
                  </a:ext>
                </a:extLst>
              </p:cNvPr>
              <p:cNvSpPr/>
              <p:nvPr/>
            </p:nvSpPr>
            <p:spPr>
              <a:xfrm>
                <a:off x="2753805" y="4935977"/>
                <a:ext cx="585216" cy="585216"/>
              </a:xfrm>
              <a:prstGeom prst="ellipse">
                <a:avLst/>
              </a:prstGeom>
              <a:solidFill>
                <a:srgbClr val="0066BE"/>
              </a:solidFill>
              <a:ln>
                <a:noFill/>
              </a:ln>
              <a:effectLst>
                <a:outerShdw blurRad="63500" sx="103000" sy="103000" algn="ctr" rotWithShape="0">
                  <a:srgbClr val="0066BE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934DA317-B309-D0C8-CC5E-730B8BD79BB6}"/>
                  </a:ext>
                </a:extLst>
              </p:cNvPr>
              <p:cNvSpPr/>
              <p:nvPr/>
            </p:nvSpPr>
            <p:spPr>
              <a:xfrm>
                <a:off x="2717229" y="4899401"/>
                <a:ext cx="658368" cy="658368"/>
              </a:xfrm>
              <a:prstGeom prst="ellipse">
                <a:avLst/>
              </a:prstGeom>
              <a:noFill/>
              <a:ln w="6350">
                <a:solidFill>
                  <a:srgbClr val="0066BE"/>
                </a:solidFill>
                <a:prstDash val="dash"/>
                <a:beve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5E70595-1B18-192A-434C-0BE4D13433D0}"/>
                </a:ext>
              </a:extLst>
            </p:cNvPr>
            <p:cNvSpPr txBox="1"/>
            <p:nvPr/>
          </p:nvSpPr>
          <p:spPr>
            <a:xfrm>
              <a:off x="5926723" y="3692279"/>
              <a:ext cx="67665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dirty="0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  <a:cs typeface="Roboto Medium" panose="02000000000000000000" pitchFamily="2" charset="0"/>
                </a:rPr>
                <a:t>Docintel.app</a:t>
              </a:r>
            </a:p>
          </p:txBody>
        </p:sp>
        <p:pic>
          <p:nvPicPr>
            <p:cNvPr id="61" name="Graphic 60">
              <a:extLst>
                <a:ext uri="{FF2B5EF4-FFF2-40B4-BE49-F238E27FC236}">
                  <a16:creationId xmlns:a16="http://schemas.microsoft.com/office/drawing/2014/main" id="{21F8622D-1B8A-3425-AB73-81234E4F264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164467" y="3475271"/>
              <a:ext cx="201168" cy="201168"/>
            </a:xfrm>
            <a:prstGeom prst="rect">
              <a:avLst/>
            </a:prstGeom>
          </p:spPr>
        </p:pic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CEBA3B17-FAAD-6BAD-A760-7E16554B7C97}"/>
              </a:ext>
            </a:extLst>
          </p:cNvPr>
          <p:cNvSpPr/>
          <p:nvPr/>
        </p:nvSpPr>
        <p:spPr>
          <a:xfrm>
            <a:off x="122872" y="118104"/>
            <a:ext cx="566928" cy="56692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01600" sx="110000" sy="110000" algn="ctr" rotWithShape="0">
              <a:srgbClr val="0066BE">
                <a:alpha val="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3538BD-01C6-54BE-35D6-32235D8EBE3B}"/>
              </a:ext>
            </a:extLst>
          </p:cNvPr>
          <p:cNvSpPr txBox="1"/>
          <p:nvPr/>
        </p:nvSpPr>
        <p:spPr>
          <a:xfrm>
            <a:off x="694466" y="263068"/>
            <a:ext cx="1888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A8CBE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Consent</a:t>
            </a:r>
            <a:endParaRPr lang="en-US" sz="1200" dirty="0">
              <a:solidFill>
                <a:srgbClr val="A8CBE9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3A4E6C-CF24-25FD-4803-A46217F4F42F}"/>
              </a:ext>
            </a:extLst>
          </p:cNvPr>
          <p:cNvSpPr txBox="1"/>
          <p:nvPr/>
        </p:nvSpPr>
        <p:spPr>
          <a:xfrm>
            <a:off x="478416" y="3606299"/>
            <a:ext cx="663006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1200" dirty="0">
                <a:solidFill>
                  <a:srgbClr val="59748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Build better relationships with consent - so you can analyse engagement data to give you precise predictions about </a:t>
            </a:r>
            <a:r>
              <a:rPr lang="en-GB" sz="1200" dirty="0" err="1">
                <a:solidFill>
                  <a:srgbClr val="59748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HCPs'</a:t>
            </a:r>
            <a:r>
              <a:rPr lang="en-GB" sz="1200" dirty="0">
                <a:solidFill>
                  <a:srgbClr val="59748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interests. Our method is in use on every continent and can be modified to any specific requirement. This integration of consent, usage and AI results in tailored content for your HCPs. </a:t>
            </a:r>
            <a:r>
              <a:rPr lang="en-US" sz="1200" dirty="0">
                <a:solidFill>
                  <a:srgbClr val="59748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27BDB6-50B1-E417-F9CD-B5E4F2541FA2}"/>
              </a:ext>
            </a:extLst>
          </p:cNvPr>
          <p:cNvSpPr txBox="1"/>
          <p:nvPr/>
        </p:nvSpPr>
        <p:spPr>
          <a:xfrm>
            <a:off x="2583401" y="3031727"/>
            <a:ext cx="24200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rgbClr val="0066B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Consent</a:t>
            </a:r>
            <a:endParaRPr lang="en-US" sz="2000" b="1" dirty="0">
              <a:solidFill>
                <a:srgbClr val="0066BE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79E2AA-DC64-4F9B-6683-2292E8BFE0C3}"/>
              </a:ext>
            </a:extLst>
          </p:cNvPr>
          <p:cNvSpPr txBox="1"/>
          <p:nvPr/>
        </p:nvSpPr>
        <p:spPr>
          <a:xfrm>
            <a:off x="1148366" y="6063971"/>
            <a:ext cx="14225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A8CBE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Related modules |</a:t>
            </a:r>
            <a:endParaRPr lang="en-US" sz="1200" dirty="0">
              <a:solidFill>
                <a:srgbClr val="A8CBE9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95D4A5-2730-247B-B4FB-F0B3311F5F45}"/>
              </a:ext>
            </a:extLst>
          </p:cNvPr>
          <p:cNvSpPr txBox="1"/>
          <p:nvPr/>
        </p:nvSpPr>
        <p:spPr>
          <a:xfrm>
            <a:off x="8154186" y="1391463"/>
            <a:ext cx="2024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Key Features</a:t>
            </a:r>
            <a:endParaRPr lang="en-US" sz="20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B01F8D-0127-6ADD-32D1-5D35DF0218FE}"/>
              </a:ext>
            </a:extLst>
          </p:cNvPr>
          <p:cNvSpPr txBox="1"/>
          <p:nvPr/>
        </p:nvSpPr>
        <p:spPr>
          <a:xfrm>
            <a:off x="8237119" y="1928695"/>
            <a:ext cx="3954881" cy="2490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Consent is at the core and powers every module</a:t>
            </a:r>
          </a:p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Provides a personalised experience for each HCP</a:t>
            </a:r>
          </a:p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HCPs can provide or withdraw consent directly through their Docintel account</a:t>
            </a:r>
          </a:p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Simplicity, transparency and trust supports enduring relationships </a:t>
            </a:r>
          </a:p>
        </p:txBody>
      </p:sp>
      <p:pic>
        <p:nvPicPr>
          <p:cNvPr id="3" name="Picture 2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BC4C591E-FDD2-B216-AC68-C8B763B2F82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97387" y="1164240"/>
            <a:ext cx="4532816" cy="1593167"/>
          </a:xfrm>
          <a:prstGeom prst="rect">
            <a:avLst/>
          </a:prstGeom>
        </p:spPr>
      </p:pic>
      <p:pic>
        <p:nvPicPr>
          <p:cNvPr id="64" name="Graphic 63">
            <a:extLst>
              <a:ext uri="{FF2B5EF4-FFF2-40B4-BE49-F238E27FC236}">
                <a16:creationId xmlns:a16="http://schemas.microsoft.com/office/drawing/2014/main" id="{905919C5-9A7F-9C98-0BD2-79AE17AD540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46316" y="241547"/>
            <a:ext cx="320040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267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binar Deck" id="{7A23AA72-971C-E242-B048-39576FC5F3DC}" vid="{A1799C23-9543-3846-A9C6-869377834B9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office theme</vt:lpstr>
      <vt:lpstr>Custom Design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5</cp:revision>
  <dcterms:created xsi:type="dcterms:W3CDTF">2013-07-15T20:26:40Z</dcterms:created>
  <dcterms:modified xsi:type="dcterms:W3CDTF">2023-10-17T12:18:13Z</dcterms:modified>
</cp:coreProperties>
</file>