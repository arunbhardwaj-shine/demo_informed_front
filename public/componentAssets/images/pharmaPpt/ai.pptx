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74E334-006B-45DA-A328-F3CBEE2472F7}" v="1" dt="2023-10-17T12:19:03.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95A56802-474E-D60B-BF81-C5487A887C80}"/>
              </a:ext>
            </a:extLst>
          </p:cNvPr>
          <p:cNvGrpSpPr/>
          <p:nvPr/>
        </p:nvGrpSpPr>
        <p:grpSpPr>
          <a:xfrm>
            <a:off x="2566981" y="5846394"/>
            <a:ext cx="676656" cy="658368"/>
            <a:chOff x="2144967" y="4958505"/>
            <a:chExt cx="676656" cy="658368"/>
          </a:xfrm>
        </p:grpSpPr>
        <p:grpSp>
          <p:nvGrpSpPr>
            <p:cNvPr id="25" name="Group 24">
              <a:extLst>
                <a:ext uri="{FF2B5EF4-FFF2-40B4-BE49-F238E27FC236}">
                  <a16:creationId xmlns:a16="http://schemas.microsoft.com/office/drawing/2014/main" id="{F3E05503-5513-D56B-4B34-657F28ADD933}"/>
                </a:ext>
              </a:extLst>
            </p:cNvPr>
            <p:cNvGrpSpPr/>
            <p:nvPr/>
          </p:nvGrpSpPr>
          <p:grpSpPr>
            <a:xfrm>
              <a:off x="2154111" y="4958505"/>
              <a:ext cx="658368" cy="658368"/>
              <a:chOff x="2717229" y="4899401"/>
              <a:chExt cx="658368" cy="658368"/>
            </a:xfrm>
          </p:grpSpPr>
          <p:sp>
            <p:nvSpPr>
              <p:cNvPr id="28" name="Oval 27">
                <a:extLst>
                  <a:ext uri="{FF2B5EF4-FFF2-40B4-BE49-F238E27FC236}">
                    <a16:creationId xmlns:a16="http://schemas.microsoft.com/office/drawing/2014/main" id="{43B02865-BB9A-2558-2F92-FA0F8D4AEAEB}"/>
                  </a:ext>
                </a:extLst>
              </p:cNvPr>
              <p:cNvSpPr/>
              <p:nvPr/>
            </p:nvSpPr>
            <p:spPr>
              <a:xfrm>
                <a:off x="2753805" y="4935977"/>
                <a:ext cx="585216" cy="585216"/>
              </a:xfrm>
              <a:prstGeom prst="ellipse">
                <a:avLst/>
              </a:prstGeom>
              <a:solidFill>
                <a:srgbClr val="5A6BB5"/>
              </a:solidFill>
              <a:ln>
                <a:noFill/>
              </a:ln>
              <a:effectLst>
                <a:outerShdw blurRad="63500" sx="103000" sy="103000" algn="ctr" rotWithShape="0">
                  <a:srgbClr val="5A6B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C694F7F8-1895-1C9C-DE0B-4FF12224DA3A}"/>
                  </a:ext>
                </a:extLst>
              </p:cNvPr>
              <p:cNvSpPr/>
              <p:nvPr/>
            </p:nvSpPr>
            <p:spPr>
              <a:xfrm>
                <a:off x="2717229" y="4899401"/>
                <a:ext cx="658368" cy="658368"/>
              </a:xfrm>
              <a:prstGeom prst="ellipse">
                <a:avLst/>
              </a:prstGeom>
              <a:noFill/>
              <a:ln w="6350">
                <a:solidFill>
                  <a:srgbClr val="5A6BB5"/>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EAEC4B03-7A33-14E5-4318-2FF8B3AA77F4}"/>
                </a:ext>
              </a:extLst>
            </p:cNvPr>
            <p:cNvSpPr txBox="1"/>
            <p:nvPr/>
          </p:nvSpPr>
          <p:spPr>
            <a:xfrm>
              <a:off x="2144967" y="5285009"/>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Read-Through</a:t>
              </a:r>
            </a:p>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-Rate</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7" name="Graphic 26">
              <a:extLst>
                <a:ext uri="{FF2B5EF4-FFF2-40B4-BE49-F238E27FC236}">
                  <a16:creationId xmlns:a16="http://schemas.microsoft.com/office/drawing/2014/main" id="{D037BF66-18BF-7CFA-7A59-7B0762BFBF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8995" y="5059089"/>
              <a:ext cx="228600" cy="228600"/>
            </a:xfrm>
            <a:prstGeom prst="rect">
              <a:avLst/>
            </a:prstGeom>
          </p:spPr>
        </p:pic>
      </p:grpSp>
      <p:grpSp>
        <p:nvGrpSpPr>
          <p:cNvPr id="30" name="Group 29">
            <a:extLst>
              <a:ext uri="{FF2B5EF4-FFF2-40B4-BE49-F238E27FC236}">
                <a16:creationId xmlns:a16="http://schemas.microsoft.com/office/drawing/2014/main" id="{105205BE-B99C-1A7A-D043-376455937DBA}"/>
              </a:ext>
            </a:extLst>
          </p:cNvPr>
          <p:cNvGrpSpPr/>
          <p:nvPr/>
        </p:nvGrpSpPr>
        <p:grpSpPr>
          <a:xfrm>
            <a:off x="3323137" y="5846394"/>
            <a:ext cx="676656" cy="658368"/>
            <a:chOff x="2868804" y="4955825"/>
            <a:chExt cx="676656" cy="658368"/>
          </a:xfrm>
        </p:grpSpPr>
        <p:grpSp>
          <p:nvGrpSpPr>
            <p:cNvPr id="31" name="Group 30">
              <a:extLst>
                <a:ext uri="{FF2B5EF4-FFF2-40B4-BE49-F238E27FC236}">
                  <a16:creationId xmlns:a16="http://schemas.microsoft.com/office/drawing/2014/main" id="{4C1EECD8-3C07-D861-5FCE-69FC0996A327}"/>
                </a:ext>
              </a:extLst>
            </p:cNvPr>
            <p:cNvGrpSpPr/>
            <p:nvPr/>
          </p:nvGrpSpPr>
          <p:grpSpPr>
            <a:xfrm>
              <a:off x="2880043" y="4955825"/>
              <a:ext cx="658368" cy="658368"/>
              <a:chOff x="2717229" y="4899401"/>
              <a:chExt cx="658368" cy="658368"/>
            </a:xfrm>
          </p:grpSpPr>
          <p:sp>
            <p:nvSpPr>
              <p:cNvPr id="34" name="Oval 33">
                <a:extLst>
                  <a:ext uri="{FF2B5EF4-FFF2-40B4-BE49-F238E27FC236}">
                    <a16:creationId xmlns:a16="http://schemas.microsoft.com/office/drawing/2014/main" id="{254389C4-63C6-EFE5-731F-EE6249E5E048}"/>
                  </a:ext>
                </a:extLst>
              </p:cNvPr>
              <p:cNvSpPr/>
              <p:nvPr/>
            </p:nvSpPr>
            <p:spPr>
              <a:xfrm>
                <a:off x="2753805" y="4935977"/>
                <a:ext cx="585216" cy="585216"/>
              </a:xfrm>
              <a:prstGeom prst="ellipse">
                <a:avLst/>
              </a:prstGeom>
              <a:solidFill>
                <a:srgbClr val="6E52A2"/>
              </a:solidFill>
              <a:ln>
                <a:noFill/>
              </a:ln>
              <a:effectLst>
                <a:outerShdw blurRad="63500" sx="103000" sy="103000" algn="ctr" rotWithShape="0">
                  <a:srgbClr val="6E52A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B99CF1F-1475-89D5-400C-6CA49C3186CF}"/>
                  </a:ext>
                </a:extLst>
              </p:cNvPr>
              <p:cNvSpPr/>
              <p:nvPr/>
            </p:nvSpPr>
            <p:spPr>
              <a:xfrm>
                <a:off x="2717229" y="4899401"/>
                <a:ext cx="658368" cy="658368"/>
              </a:xfrm>
              <a:prstGeom prst="ellipse">
                <a:avLst/>
              </a:prstGeom>
              <a:noFill/>
              <a:ln w="6350">
                <a:solidFill>
                  <a:srgbClr val="6E52A2"/>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0420E184-9ECA-6F1C-3707-960C35A13959}"/>
                </a:ext>
              </a:extLst>
            </p:cNvPr>
            <p:cNvSpPr txBox="1"/>
            <p:nvPr/>
          </p:nvSpPr>
          <p:spPr>
            <a:xfrm>
              <a:off x="2868804" y="526788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 Portal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3" name="Graphic 32">
              <a:extLst>
                <a:ext uri="{FF2B5EF4-FFF2-40B4-BE49-F238E27FC236}">
                  <a16:creationId xmlns:a16="http://schemas.microsoft.com/office/drawing/2014/main" id="{61C63BFE-4CBC-376B-0DD9-7C2FFEACF8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06548" y="5055680"/>
              <a:ext cx="201168" cy="201168"/>
            </a:xfrm>
            <a:prstGeom prst="rect">
              <a:avLst/>
            </a:prstGeom>
          </p:spPr>
        </p:pic>
      </p:grpSp>
      <p:grpSp>
        <p:nvGrpSpPr>
          <p:cNvPr id="36" name="Group 35">
            <a:extLst>
              <a:ext uri="{FF2B5EF4-FFF2-40B4-BE49-F238E27FC236}">
                <a16:creationId xmlns:a16="http://schemas.microsoft.com/office/drawing/2014/main" id="{BC1A5120-E22C-27AB-5896-A16612B04F6B}"/>
              </a:ext>
            </a:extLst>
          </p:cNvPr>
          <p:cNvGrpSpPr/>
          <p:nvPr/>
        </p:nvGrpSpPr>
        <p:grpSpPr>
          <a:xfrm>
            <a:off x="4090532" y="5846394"/>
            <a:ext cx="676656" cy="658368"/>
            <a:chOff x="3601278" y="4955825"/>
            <a:chExt cx="676656" cy="658368"/>
          </a:xfrm>
        </p:grpSpPr>
        <p:grpSp>
          <p:nvGrpSpPr>
            <p:cNvPr id="37" name="Group 36">
              <a:extLst>
                <a:ext uri="{FF2B5EF4-FFF2-40B4-BE49-F238E27FC236}">
                  <a16:creationId xmlns:a16="http://schemas.microsoft.com/office/drawing/2014/main" id="{38D2B07D-DBFC-69E8-A296-F7432DC796AE}"/>
                </a:ext>
              </a:extLst>
            </p:cNvPr>
            <p:cNvGrpSpPr/>
            <p:nvPr/>
          </p:nvGrpSpPr>
          <p:grpSpPr>
            <a:xfrm>
              <a:off x="3615755" y="4955825"/>
              <a:ext cx="658368" cy="658368"/>
              <a:chOff x="2717229" y="4899401"/>
              <a:chExt cx="658368" cy="658368"/>
            </a:xfrm>
          </p:grpSpPr>
          <p:sp>
            <p:nvSpPr>
              <p:cNvPr id="40" name="Oval 39">
                <a:extLst>
                  <a:ext uri="{FF2B5EF4-FFF2-40B4-BE49-F238E27FC236}">
                    <a16:creationId xmlns:a16="http://schemas.microsoft.com/office/drawing/2014/main" id="{EFB316C3-8B66-B13F-8FAE-363929408278}"/>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9BA890B6-A12F-2799-02E6-113A9CC5DF34}"/>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38B314A2-46FA-CAE4-C446-D198E9CADF41}"/>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9" name="Graphic 38">
              <a:extLst>
                <a:ext uri="{FF2B5EF4-FFF2-40B4-BE49-F238E27FC236}">
                  <a16:creationId xmlns:a16="http://schemas.microsoft.com/office/drawing/2014/main" id="{E15BE413-8F2F-5949-8887-BD714F9ACC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9022" y="5052271"/>
              <a:ext cx="201168" cy="201168"/>
            </a:xfrm>
            <a:prstGeom prst="rect">
              <a:avLst/>
            </a:prstGeom>
          </p:spPr>
        </p:pic>
      </p:grpSp>
      <p:grpSp>
        <p:nvGrpSpPr>
          <p:cNvPr id="42" name="Group 41">
            <a:extLst>
              <a:ext uri="{FF2B5EF4-FFF2-40B4-BE49-F238E27FC236}">
                <a16:creationId xmlns:a16="http://schemas.microsoft.com/office/drawing/2014/main" id="{BDA00A10-6B02-7CDC-BD2D-82EB93C28C03}"/>
              </a:ext>
            </a:extLst>
          </p:cNvPr>
          <p:cNvGrpSpPr/>
          <p:nvPr/>
        </p:nvGrpSpPr>
        <p:grpSpPr>
          <a:xfrm>
            <a:off x="5623564" y="5846394"/>
            <a:ext cx="676656" cy="658368"/>
            <a:chOff x="5073337" y="4958505"/>
            <a:chExt cx="676656" cy="658368"/>
          </a:xfrm>
        </p:grpSpPr>
        <p:grpSp>
          <p:nvGrpSpPr>
            <p:cNvPr id="43" name="Group 42">
              <a:extLst>
                <a:ext uri="{FF2B5EF4-FFF2-40B4-BE49-F238E27FC236}">
                  <a16:creationId xmlns:a16="http://schemas.microsoft.com/office/drawing/2014/main" id="{10A39B25-FB9D-8787-436B-C095858829E3}"/>
                </a:ext>
              </a:extLst>
            </p:cNvPr>
            <p:cNvGrpSpPr/>
            <p:nvPr/>
          </p:nvGrpSpPr>
          <p:grpSpPr>
            <a:xfrm>
              <a:off x="5082481" y="4958505"/>
              <a:ext cx="658368" cy="658368"/>
              <a:chOff x="2717229" y="4899401"/>
              <a:chExt cx="658368" cy="658368"/>
            </a:xfrm>
          </p:grpSpPr>
          <p:sp>
            <p:nvSpPr>
              <p:cNvPr id="46" name="Oval 45">
                <a:extLst>
                  <a:ext uri="{FF2B5EF4-FFF2-40B4-BE49-F238E27FC236}">
                    <a16:creationId xmlns:a16="http://schemas.microsoft.com/office/drawing/2014/main" id="{B49F85B4-3DB4-4CF4-B6D3-B55B551ABDE3}"/>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7C49ADB3-7A47-86C9-4DF8-238A73714D4B}"/>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A290B500-A10A-DE45-C79D-24F1E31A01F4}"/>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45" name="Graphic 44">
              <a:extLst>
                <a:ext uri="{FF2B5EF4-FFF2-40B4-BE49-F238E27FC236}">
                  <a16:creationId xmlns:a16="http://schemas.microsoft.com/office/drawing/2014/main" id="{B3E24FD7-0EC0-8D48-153B-68A892B547B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11081" y="5039745"/>
              <a:ext cx="201168" cy="201168"/>
            </a:xfrm>
            <a:prstGeom prst="rect">
              <a:avLst/>
            </a:prstGeom>
          </p:spPr>
        </p:pic>
      </p:grpSp>
      <p:grpSp>
        <p:nvGrpSpPr>
          <p:cNvPr id="48" name="Group 47">
            <a:extLst>
              <a:ext uri="{FF2B5EF4-FFF2-40B4-BE49-F238E27FC236}">
                <a16:creationId xmlns:a16="http://schemas.microsoft.com/office/drawing/2014/main" id="{AB0D42BA-6A7E-EA98-D88B-FA1E1D958F15}"/>
              </a:ext>
            </a:extLst>
          </p:cNvPr>
          <p:cNvGrpSpPr/>
          <p:nvPr/>
        </p:nvGrpSpPr>
        <p:grpSpPr>
          <a:xfrm>
            <a:off x="4848657" y="5846394"/>
            <a:ext cx="676656" cy="658368"/>
            <a:chOff x="4328355" y="4958505"/>
            <a:chExt cx="676656" cy="658368"/>
          </a:xfrm>
        </p:grpSpPr>
        <p:grpSp>
          <p:nvGrpSpPr>
            <p:cNvPr id="49" name="Group 48">
              <a:extLst>
                <a:ext uri="{FF2B5EF4-FFF2-40B4-BE49-F238E27FC236}">
                  <a16:creationId xmlns:a16="http://schemas.microsoft.com/office/drawing/2014/main" id="{7FDFD831-9FAC-1BEA-C394-44A04A9A4F28}"/>
                </a:ext>
              </a:extLst>
            </p:cNvPr>
            <p:cNvGrpSpPr/>
            <p:nvPr/>
          </p:nvGrpSpPr>
          <p:grpSpPr>
            <a:xfrm>
              <a:off x="4342958" y="4958505"/>
              <a:ext cx="658368" cy="658368"/>
              <a:chOff x="2717229" y="4899401"/>
              <a:chExt cx="658368" cy="658368"/>
            </a:xfrm>
          </p:grpSpPr>
          <p:sp>
            <p:nvSpPr>
              <p:cNvPr id="52" name="Oval 51">
                <a:extLst>
                  <a:ext uri="{FF2B5EF4-FFF2-40B4-BE49-F238E27FC236}">
                    <a16:creationId xmlns:a16="http://schemas.microsoft.com/office/drawing/2014/main" id="{A7E860D6-B3C4-2827-D09A-297BCF82293B}"/>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ED888CB8-8325-7D38-A679-2291DB76F0CA}"/>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a:extLst>
                <a:ext uri="{FF2B5EF4-FFF2-40B4-BE49-F238E27FC236}">
                  <a16:creationId xmlns:a16="http://schemas.microsoft.com/office/drawing/2014/main" id="{32E82D31-4509-F760-E051-FAC561299C7C}"/>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1" name="Graphic 50">
              <a:extLst>
                <a:ext uri="{FF2B5EF4-FFF2-40B4-BE49-F238E27FC236}">
                  <a16:creationId xmlns:a16="http://schemas.microsoft.com/office/drawing/2014/main" id="{41AD77BF-F987-DB76-207C-6FF08DEA395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7718" y="5052271"/>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AI Prediction Tool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Our AI leverages your HCP engagement data to formulate personalised predictions for each HCP. This process improves as your interactions with HCPs deepen. Enhanced content recommendations foster stronger relationships and trust - resulting in measurable outcomes. The synergy of intelligence and foresight.</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AI Prediction Tool</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954881" cy="3721532"/>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Use approved consent to create individually tailored predictions for each and every HCP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Improve HCP engagement by providing relevant content they’ll want to read</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Delivered in a way you know they will receive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Knowledge is power: the more you know, the more insightful you can be for every HCP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Customise how you use your collected data, so it best serves you</a:t>
            </a:r>
          </a:p>
        </p:txBody>
      </p:sp>
      <p:pic>
        <p:nvPicPr>
          <p:cNvPr id="23" name="Picture 22" descr="A blue circle with white dots and a blue and purple circle with a blue and white brain&#10;&#10;Description automatically generated">
            <a:extLst>
              <a:ext uri="{FF2B5EF4-FFF2-40B4-BE49-F238E27FC236}">
                <a16:creationId xmlns:a16="http://schemas.microsoft.com/office/drawing/2014/main" id="{EB794ADD-089D-FBC1-378E-1D059A2593E0}"/>
              </a:ext>
            </a:extLst>
          </p:cNvPr>
          <p:cNvPicPr>
            <a:picLocks noChangeAspect="1"/>
          </p:cNvPicPr>
          <p:nvPr/>
        </p:nvPicPr>
        <p:blipFill>
          <a:blip r:embed="rId13"/>
          <a:stretch>
            <a:fillRect/>
          </a:stretch>
        </p:blipFill>
        <p:spPr>
          <a:xfrm>
            <a:off x="1391793" y="1012721"/>
            <a:ext cx="4320691" cy="1546352"/>
          </a:xfrm>
          <a:prstGeom prst="rect">
            <a:avLst/>
          </a:prstGeom>
        </p:spPr>
      </p:pic>
      <p:pic>
        <p:nvPicPr>
          <p:cNvPr id="65" name="Graphic 64">
            <a:extLst>
              <a:ext uri="{FF2B5EF4-FFF2-40B4-BE49-F238E27FC236}">
                <a16:creationId xmlns:a16="http://schemas.microsoft.com/office/drawing/2014/main" id="{3A459087-EBB7-812F-43C9-6A413913E94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28338688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2023-10-17T12:19:10Z</dcterms:modified>
</cp:coreProperties>
</file>