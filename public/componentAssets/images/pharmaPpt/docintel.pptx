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F26DA3-3AA7-496B-A80C-CC2709E5CFC9}" v="1" dt="2023-10-17T12:16:05.8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FFA3BE5-77D8-8EEB-1C8F-25FCE371C373}"/>
              </a:ext>
            </a:extLst>
          </p:cNvPr>
          <p:cNvGrpSpPr/>
          <p:nvPr/>
        </p:nvGrpSpPr>
        <p:grpSpPr>
          <a:xfrm>
            <a:off x="2544563" y="5835933"/>
            <a:ext cx="676656" cy="658368"/>
            <a:chOff x="2144967" y="4958505"/>
            <a:chExt cx="676656" cy="658368"/>
          </a:xfrm>
        </p:grpSpPr>
        <p:grpSp>
          <p:nvGrpSpPr>
            <p:cNvPr id="5" name="Group 4">
              <a:extLst>
                <a:ext uri="{FF2B5EF4-FFF2-40B4-BE49-F238E27FC236}">
                  <a16:creationId xmlns:a16="http://schemas.microsoft.com/office/drawing/2014/main" id="{22B79E51-334E-A0E3-07FA-5EC5A51CA97B}"/>
                </a:ext>
              </a:extLst>
            </p:cNvPr>
            <p:cNvGrpSpPr/>
            <p:nvPr/>
          </p:nvGrpSpPr>
          <p:grpSpPr>
            <a:xfrm>
              <a:off x="2154111" y="4958505"/>
              <a:ext cx="658368" cy="658368"/>
              <a:chOff x="2717229" y="4899401"/>
              <a:chExt cx="658368" cy="658368"/>
            </a:xfrm>
          </p:grpSpPr>
          <p:sp>
            <p:nvSpPr>
              <p:cNvPr id="8" name="Oval 7">
                <a:extLst>
                  <a:ext uri="{FF2B5EF4-FFF2-40B4-BE49-F238E27FC236}">
                    <a16:creationId xmlns:a16="http://schemas.microsoft.com/office/drawing/2014/main" id="{B605E4E5-9C67-4600-5095-B18AEC6D6CD0}"/>
                  </a:ext>
                </a:extLst>
              </p:cNvPr>
              <p:cNvSpPr/>
              <p:nvPr/>
            </p:nvSpPr>
            <p:spPr>
              <a:xfrm>
                <a:off x="2753805" y="4935977"/>
                <a:ext cx="585216" cy="585216"/>
              </a:xfrm>
              <a:prstGeom prst="ellipse">
                <a:avLst/>
              </a:prstGeom>
              <a:solidFill>
                <a:srgbClr val="5A6BB5"/>
              </a:solidFill>
              <a:ln>
                <a:noFill/>
              </a:ln>
              <a:effectLst>
                <a:outerShdw blurRad="63500" sx="103000" sy="103000" algn="ctr" rotWithShape="0">
                  <a:srgbClr val="5A6B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13F695-5508-2F35-EB59-903AA1F6DDC9}"/>
                  </a:ext>
                </a:extLst>
              </p:cNvPr>
              <p:cNvSpPr/>
              <p:nvPr/>
            </p:nvSpPr>
            <p:spPr>
              <a:xfrm>
                <a:off x="2717229" y="4899401"/>
                <a:ext cx="658368" cy="658368"/>
              </a:xfrm>
              <a:prstGeom prst="ellipse">
                <a:avLst/>
              </a:prstGeom>
              <a:noFill/>
              <a:ln w="6350">
                <a:solidFill>
                  <a:srgbClr val="5A6BB5"/>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91F3BA31-A618-076B-599E-1F184CDD9A10}"/>
                </a:ext>
              </a:extLst>
            </p:cNvPr>
            <p:cNvSpPr txBox="1"/>
            <p:nvPr/>
          </p:nvSpPr>
          <p:spPr>
            <a:xfrm>
              <a:off x="2144967" y="5285009"/>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Read-Through</a:t>
              </a:r>
            </a:p>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-Rate</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7" name="Graphic 6">
              <a:extLst>
                <a:ext uri="{FF2B5EF4-FFF2-40B4-BE49-F238E27FC236}">
                  <a16:creationId xmlns:a16="http://schemas.microsoft.com/office/drawing/2014/main" id="{396922A3-3B0E-543C-3C3E-3D8121B8C3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8995" y="5059089"/>
              <a:ext cx="228600" cy="228600"/>
            </a:xfrm>
            <a:prstGeom prst="rect">
              <a:avLst/>
            </a:prstGeom>
          </p:spPr>
        </p:pic>
      </p:grpSp>
      <p:grpSp>
        <p:nvGrpSpPr>
          <p:cNvPr id="12" name="Group 11">
            <a:extLst>
              <a:ext uri="{FF2B5EF4-FFF2-40B4-BE49-F238E27FC236}">
                <a16:creationId xmlns:a16="http://schemas.microsoft.com/office/drawing/2014/main" id="{9091D884-3C33-9375-EF0A-D02C5FBE7090}"/>
              </a:ext>
            </a:extLst>
          </p:cNvPr>
          <p:cNvGrpSpPr/>
          <p:nvPr/>
        </p:nvGrpSpPr>
        <p:grpSpPr>
          <a:xfrm>
            <a:off x="3300719" y="5835933"/>
            <a:ext cx="676656" cy="658368"/>
            <a:chOff x="2868804" y="4955825"/>
            <a:chExt cx="676656" cy="658368"/>
          </a:xfrm>
        </p:grpSpPr>
        <p:grpSp>
          <p:nvGrpSpPr>
            <p:cNvPr id="13" name="Group 12">
              <a:extLst>
                <a:ext uri="{FF2B5EF4-FFF2-40B4-BE49-F238E27FC236}">
                  <a16:creationId xmlns:a16="http://schemas.microsoft.com/office/drawing/2014/main" id="{894D418A-52D5-C88D-21ED-B92BC596675E}"/>
                </a:ext>
              </a:extLst>
            </p:cNvPr>
            <p:cNvGrpSpPr/>
            <p:nvPr/>
          </p:nvGrpSpPr>
          <p:grpSpPr>
            <a:xfrm>
              <a:off x="2880043" y="4955825"/>
              <a:ext cx="658368" cy="658368"/>
              <a:chOff x="2717229" y="4899401"/>
              <a:chExt cx="658368" cy="658368"/>
            </a:xfrm>
          </p:grpSpPr>
          <p:sp>
            <p:nvSpPr>
              <p:cNvPr id="17" name="Oval 16">
                <a:extLst>
                  <a:ext uri="{FF2B5EF4-FFF2-40B4-BE49-F238E27FC236}">
                    <a16:creationId xmlns:a16="http://schemas.microsoft.com/office/drawing/2014/main" id="{3F7458B4-E716-49AD-B7D9-36088F434CE2}"/>
                  </a:ext>
                </a:extLst>
              </p:cNvPr>
              <p:cNvSpPr/>
              <p:nvPr/>
            </p:nvSpPr>
            <p:spPr>
              <a:xfrm>
                <a:off x="2753805" y="4935977"/>
                <a:ext cx="585216" cy="585216"/>
              </a:xfrm>
              <a:prstGeom prst="ellipse">
                <a:avLst/>
              </a:prstGeom>
              <a:solidFill>
                <a:srgbClr val="6E52A2"/>
              </a:solidFill>
              <a:ln>
                <a:noFill/>
              </a:ln>
              <a:effectLst>
                <a:outerShdw blurRad="63500" sx="103000" sy="103000" algn="ctr" rotWithShape="0">
                  <a:srgbClr val="6E52A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12343D10-DF01-1A69-67C5-D5E67CBA6AC0}"/>
                  </a:ext>
                </a:extLst>
              </p:cNvPr>
              <p:cNvSpPr/>
              <p:nvPr/>
            </p:nvSpPr>
            <p:spPr>
              <a:xfrm>
                <a:off x="2717229" y="4899401"/>
                <a:ext cx="658368" cy="658368"/>
              </a:xfrm>
              <a:prstGeom prst="ellipse">
                <a:avLst/>
              </a:prstGeom>
              <a:noFill/>
              <a:ln w="6350">
                <a:solidFill>
                  <a:srgbClr val="6E52A2"/>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1E5657CA-EA84-01E3-1732-598183FD84C4}"/>
                </a:ext>
              </a:extLst>
            </p:cNvPr>
            <p:cNvSpPr txBox="1"/>
            <p:nvPr/>
          </p:nvSpPr>
          <p:spPr>
            <a:xfrm>
              <a:off x="2868804" y="526788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 Portal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16" name="Graphic 15">
              <a:extLst>
                <a:ext uri="{FF2B5EF4-FFF2-40B4-BE49-F238E27FC236}">
                  <a16:creationId xmlns:a16="http://schemas.microsoft.com/office/drawing/2014/main" id="{D4ACA440-469F-ED66-CAEE-078F373AA6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06548" y="5055680"/>
              <a:ext cx="201168" cy="201168"/>
            </a:xfrm>
            <a:prstGeom prst="rect">
              <a:avLst/>
            </a:prstGeom>
          </p:spPr>
        </p:pic>
      </p:grpSp>
      <p:grpSp>
        <p:nvGrpSpPr>
          <p:cNvPr id="19" name="Group 18">
            <a:extLst>
              <a:ext uri="{FF2B5EF4-FFF2-40B4-BE49-F238E27FC236}">
                <a16:creationId xmlns:a16="http://schemas.microsoft.com/office/drawing/2014/main" id="{9A0B5183-0BB3-69C1-0C37-5BDBAAA6C4A8}"/>
              </a:ext>
            </a:extLst>
          </p:cNvPr>
          <p:cNvGrpSpPr/>
          <p:nvPr/>
        </p:nvGrpSpPr>
        <p:grpSpPr>
          <a:xfrm>
            <a:off x="4077258" y="5835933"/>
            <a:ext cx="676656" cy="658368"/>
            <a:chOff x="4328355" y="4958505"/>
            <a:chExt cx="676656" cy="658368"/>
          </a:xfrm>
        </p:grpSpPr>
        <p:grpSp>
          <p:nvGrpSpPr>
            <p:cNvPr id="20" name="Group 19">
              <a:extLst>
                <a:ext uri="{FF2B5EF4-FFF2-40B4-BE49-F238E27FC236}">
                  <a16:creationId xmlns:a16="http://schemas.microsoft.com/office/drawing/2014/main" id="{206F945D-9964-86CE-6B94-A72ABA0EE71F}"/>
                </a:ext>
              </a:extLst>
            </p:cNvPr>
            <p:cNvGrpSpPr/>
            <p:nvPr/>
          </p:nvGrpSpPr>
          <p:grpSpPr>
            <a:xfrm>
              <a:off x="4342958" y="4958505"/>
              <a:ext cx="658368" cy="658368"/>
              <a:chOff x="2717229" y="4899401"/>
              <a:chExt cx="658368" cy="658368"/>
            </a:xfrm>
          </p:grpSpPr>
          <p:sp>
            <p:nvSpPr>
              <p:cNvPr id="55" name="Oval 54">
                <a:extLst>
                  <a:ext uri="{FF2B5EF4-FFF2-40B4-BE49-F238E27FC236}">
                    <a16:creationId xmlns:a16="http://schemas.microsoft.com/office/drawing/2014/main" id="{B069C847-888A-3E25-7C82-ACC014A2E5DB}"/>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161CA2D8-BA88-D52C-BF8D-8D7AA33C567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2BC22719-085D-9E1C-569B-1AEE5F69691A}"/>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4" name="Graphic 53">
              <a:extLst>
                <a:ext uri="{FF2B5EF4-FFF2-40B4-BE49-F238E27FC236}">
                  <a16:creationId xmlns:a16="http://schemas.microsoft.com/office/drawing/2014/main" id="{4BC0FD7B-6805-2300-09BA-1918021E47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77718" y="5052271"/>
              <a:ext cx="201168" cy="201168"/>
            </a:xfrm>
            <a:prstGeom prst="rect">
              <a:avLst/>
            </a:prstGeom>
          </p:spPr>
        </p:pic>
      </p:grpSp>
      <p:grpSp>
        <p:nvGrpSpPr>
          <p:cNvPr id="57" name="Group 56">
            <a:extLst>
              <a:ext uri="{FF2B5EF4-FFF2-40B4-BE49-F238E27FC236}">
                <a16:creationId xmlns:a16="http://schemas.microsoft.com/office/drawing/2014/main" id="{5A62A18C-A3A1-7C4E-D098-EEA428F30D3D}"/>
              </a:ext>
            </a:extLst>
          </p:cNvPr>
          <p:cNvGrpSpPr/>
          <p:nvPr/>
        </p:nvGrpSpPr>
        <p:grpSpPr>
          <a:xfrm>
            <a:off x="4948413" y="5835933"/>
            <a:ext cx="676656" cy="658368"/>
            <a:chOff x="9767649" y="3391071"/>
            <a:chExt cx="676656" cy="658368"/>
          </a:xfrm>
        </p:grpSpPr>
        <p:grpSp>
          <p:nvGrpSpPr>
            <p:cNvPr id="58" name="Group 57">
              <a:extLst>
                <a:ext uri="{FF2B5EF4-FFF2-40B4-BE49-F238E27FC236}">
                  <a16:creationId xmlns:a16="http://schemas.microsoft.com/office/drawing/2014/main" id="{AD0BD58A-9DDB-ED09-2BE3-6B5B9A48BB33}"/>
                </a:ext>
              </a:extLst>
            </p:cNvPr>
            <p:cNvGrpSpPr/>
            <p:nvPr/>
          </p:nvGrpSpPr>
          <p:grpSpPr>
            <a:xfrm>
              <a:off x="9776793" y="3391071"/>
              <a:ext cx="658368" cy="658368"/>
              <a:chOff x="2717229" y="4899401"/>
              <a:chExt cx="658368" cy="658368"/>
            </a:xfrm>
          </p:grpSpPr>
          <p:sp>
            <p:nvSpPr>
              <p:cNvPr id="61" name="Oval 60">
                <a:extLst>
                  <a:ext uri="{FF2B5EF4-FFF2-40B4-BE49-F238E27FC236}">
                    <a16:creationId xmlns:a16="http://schemas.microsoft.com/office/drawing/2014/main" id="{921D1570-3D2B-85FC-AB93-9634B6545889}"/>
                  </a:ext>
                </a:extLst>
              </p:cNvPr>
              <p:cNvSpPr/>
              <p:nvPr/>
            </p:nvSpPr>
            <p:spPr>
              <a:xfrm>
                <a:off x="2753805" y="4935977"/>
                <a:ext cx="585216" cy="585216"/>
              </a:xfrm>
              <a:prstGeom prst="ellipse">
                <a:avLst/>
              </a:prstGeom>
              <a:solidFill>
                <a:srgbClr val="2B9BC8"/>
              </a:solidFill>
              <a:ln>
                <a:noFill/>
              </a:ln>
              <a:effectLst>
                <a:outerShdw blurRad="63500" sx="103000" sy="103000" algn="ctr" rotWithShape="0">
                  <a:srgbClr val="2B9BC8"/>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774ECF5E-9928-B77A-E9C7-AFBEFD3A4C7C}"/>
                  </a:ext>
                </a:extLst>
              </p:cNvPr>
              <p:cNvSpPr/>
              <p:nvPr/>
            </p:nvSpPr>
            <p:spPr>
              <a:xfrm>
                <a:off x="2717229" y="4899401"/>
                <a:ext cx="658368" cy="658368"/>
              </a:xfrm>
              <a:prstGeom prst="ellipse">
                <a:avLst/>
              </a:prstGeom>
              <a:noFill/>
              <a:ln w="6350">
                <a:solidFill>
                  <a:srgbClr val="2B9BC8"/>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BF233E00-8152-A42C-2D97-418A42A64DDF}"/>
                </a:ext>
              </a:extLst>
            </p:cNvPr>
            <p:cNvSpPr txBox="1"/>
            <p:nvPr/>
          </p:nvSpPr>
          <p:spPr>
            <a:xfrm>
              <a:off x="9767649" y="3691767"/>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Rating Tool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60" name="Graphic 59">
              <a:extLst>
                <a:ext uri="{FF2B5EF4-FFF2-40B4-BE49-F238E27FC236}">
                  <a16:creationId xmlns:a16="http://schemas.microsoft.com/office/drawing/2014/main" id="{E40DAF0D-9251-32E3-F008-9AFA4C05C6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05393" y="3468906"/>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Docintel.app</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Beyond the elegant and user-friendly interfaces lies perhaps the most sophisticated and versatile technology accessible to pharmaceutical marketers. Tailorable consent mechanisms, usage tracking that fuels AI, multimedia content choices and interactivity are all designed to enhance the digital rapport between you and HCPs.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Docintel.app</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4101901" cy="2490425"/>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HCPs read on &amp; offline, in any browser or in the app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Secure instant HCP consent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RTR tracks every second spent on individual pages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Stay consistent with your visual identity</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Push content or give HCPs a code new content in app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Personalised AI predictive content for your HCPs</a:t>
            </a:r>
          </a:p>
        </p:txBody>
      </p:sp>
      <p:pic>
        <p:nvPicPr>
          <p:cNvPr id="63" name="Picture 62" descr="A screenshot of a cell phone&#10;&#10;Description automatically generated">
            <a:extLst>
              <a:ext uri="{FF2B5EF4-FFF2-40B4-BE49-F238E27FC236}">
                <a16:creationId xmlns:a16="http://schemas.microsoft.com/office/drawing/2014/main" id="{62F08775-E23C-F372-DB60-67940060FD09}"/>
              </a:ext>
            </a:extLst>
          </p:cNvPr>
          <p:cNvPicPr>
            <a:picLocks noChangeAspect="1"/>
          </p:cNvPicPr>
          <p:nvPr/>
        </p:nvPicPr>
        <p:blipFill>
          <a:blip r:embed="rId11"/>
          <a:stretch>
            <a:fillRect/>
          </a:stretch>
        </p:blipFill>
        <p:spPr>
          <a:xfrm>
            <a:off x="2846584" y="562325"/>
            <a:ext cx="2261582" cy="2294759"/>
          </a:xfrm>
          <a:prstGeom prst="rect">
            <a:avLst/>
          </a:prstGeom>
        </p:spPr>
      </p:pic>
      <p:pic>
        <p:nvPicPr>
          <p:cNvPr id="64" name="Graphic 63">
            <a:extLst>
              <a:ext uri="{FF2B5EF4-FFF2-40B4-BE49-F238E27FC236}">
                <a16:creationId xmlns:a16="http://schemas.microsoft.com/office/drawing/2014/main" id="{FE5B5AD9-75B1-6F98-E256-B63777A7737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5558" y="230785"/>
            <a:ext cx="320040" cy="320040"/>
          </a:xfrm>
          <a:prstGeom prst="rect">
            <a:avLst/>
          </a:prstGeom>
        </p:spPr>
      </p:pic>
    </p:spTree>
    <p:extLst>
      <p:ext uri="{BB962C8B-B14F-4D97-AF65-F5344CB8AC3E}">
        <p14:creationId xmlns:p14="http://schemas.microsoft.com/office/powerpoint/2010/main" val="32953125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2023-10-17T12:16:13Z</dcterms:modified>
</cp:coreProperties>
</file>