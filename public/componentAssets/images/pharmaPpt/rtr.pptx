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14" r:id="rId2"/>
  </p:sldMasterIdLst>
  <p:sldIdLst>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D066A5-7141-44C2-BAB0-ED00E6F45304}" v="1" dt="2023-10-17T12:08:59.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9FA3AC-8899-DC44-8ACE-DE70FCE85A10}"/>
              </a:ext>
            </a:extLst>
          </p:cNvPr>
          <p:cNvSpPr/>
          <p:nvPr userDrawn="1"/>
        </p:nvSpPr>
        <p:spPr>
          <a:xfrm>
            <a:off x="-1" y="-12699"/>
            <a:ext cx="11684001" cy="568960"/>
          </a:xfrm>
          <a:prstGeom prst="rect">
            <a:avLst/>
          </a:prstGeom>
          <a:solidFill>
            <a:srgbClr val="1F67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7">
            <a:extLst>
              <a:ext uri="{FF2B5EF4-FFF2-40B4-BE49-F238E27FC236}">
                <a16:creationId xmlns:a16="http://schemas.microsoft.com/office/drawing/2014/main" id="{64805866-AE00-6147-BF2C-BDEEC0238C1D}"/>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9" name="Text Placeholder 19">
            <a:extLst>
              <a:ext uri="{FF2B5EF4-FFF2-40B4-BE49-F238E27FC236}">
                <a16:creationId xmlns:a16="http://schemas.microsoft.com/office/drawing/2014/main" id="{BE429170-0933-7047-BB5C-5CBA2DD389C4}"/>
              </a:ext>
            </a:extLst>
          </p:cNvPr>
          <p:cNvSpPr>
            <a:spLocks noGrp="1"/>
          </p:cNvSpPr>
          <p:nvPr>
            <p:ph type="body" sz="quarter" idx="10"/>
          </p:nvPr>
        </p:nvSpPr>
        <p:spPr>
          <a:xfrm>
            <a:off x="114300" y="901700"/>
            <a:ext cx="10388600" cy="825500"/>
          </a:xfrm>
          <a:prstGeom prst="rect">
            <a:avLst/>
          </a:prstGeom>
        </p:spPr>
        <p:txBody>
          <a:bodyPr/>
          <a:lstStyle>
            <a:lvl1pPr>
              <a:defRPr>
                <a:solidFill>
                  <a:srgbClr val="1E69B0"/>
                </a:solidFill>
                <a:latin typeface="Muli" pitchFamily="2" charset="77"/>
              </a:defRPr>
            </a:lvl1pPr>
            <a:lvl2pPr>
              <a:defRPr>
                <a:solidFill>
                  <a:srgbClr val="1E69B0"/>
                </a:solidFill>
                <a:latin typeface="Muli" pitchFamily="2" charset="77"/>
              </a:defRPr>
            </a:lvl2pPr>
            <a:lvl3pPr>
              <a:defRPr>
                <a:solidFill>
                  <a:srgbClr val="1E69B0"/>
                </a:solidFill>
                <a:latin typeface="Muli" pitchFamily="2" charset="77"/>
              </a:defRPr>
            </a:lvl3pPr>
            <a:lvl4pPr>
              <a:defRPr>
                <a:solidFill>
                  <a:srgbClr val="1E69B0"/>
                </a:solidFill>
                <a:latin typeface="Muli" pitchFamily="2" charset="77"/>
              </a:defRPr>
            </a:lvl4pPr>
            <a:lvl5pPr>
              <a:defRPr>
                <a:solidFill>
                  <a:srgbClr val="1E69B0"/>
                </a:solidFill>
                <a:latin typeface="Muli"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Rectangle 13">
            <a:extLst>
              <a:ext uri="{FF2B5EF4-FFF2-40B4-BE49-F238E27FC236}">
                <a16:creationId xmlns:a16="http://schemas.microsoft.com/office/drawing/2014/main" id="{F44F52FE-25F1-FB42-BF78-727AE3F5A47F}"/>
              </a:ext>
            </a:extLst>
          </p:cNvPr>
          <p:cNvSpPr/>
          <p:nvPr userDrawn="1"/>
        </p:nvSpPr>
        <p:spPr>
          <a:xfrm>
            <a:off x="11801475" y="901700"/>
            <a:ext cx="390525" cy="241300"/>
          </a:xfrm>
          <a:prstGeom prst="rect">
            <a:avLst/>
          </a:prstGeom>
          <a:solidFill>
            <a:srgbClr val="1F66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949DD305-009C-624C-AB17-3DE215394C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36300" y="-12525"/>
            <a:ext cx="1155700" cy="1155700"/>
          </a:xfrm>
          <a:prstGeom prst="rect">
            <a:avLst/>
          </a:prstGeom>
        </p:spPr>
      </p:pic>
    </p:spTree>
    <p:extLst>
      <p:ext uri="{BB962C8B-B14F-4D97-AF65-F5344CB8AC3E}">
        <p14:creationId xmlns:p14="http://schemas.microsoft.com/office/powerpoint/2010/main" val="219132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3A82-0C89-6448-899F-3A09AE2B0128}"/>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Tree>
    <p:extLst>
      <p:ext uri="{BB962C8B-B14F-4D97-AF65-F5344CB8AC3E}">
        <p14:creationId xmlns:p14="http://schemas.microsoft.com/office/powerpoint/2010/main" val="965104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1E69B0"/>
        </a:solidFill>
        <a:effectLst/>
      </p:bgPr>
    </p:bg>
    <p:spTree>
      <p:nvGrpSpPr>
        <p:cNvPr id="1" name=""/>
        <p:cNvGrpSpPr/>
        <p:nvPr/>
      </p:nvGrpSpPr>
      <p:grpSpPr>
        <a:xfrm>
          <a:off x="0" y="0"/>
          <a:ext cx="0" cy="0"/>
          <a:chOff x="0" y="0"/>
          <a:chExt cx="0" cy="0"/>
        </a:xfrm>
      </p:grpSpPr>
      <p:sp>
        <p:nvSpPr>
          <p:cNvPr id="3" name="Title 17">
            <a:extLst>
              <a:ext uri="{FF2B5EF4-FFF2-40B4-BE49-F238E27FC236}">
                <a16:creationId xmlns:a16="http://schemas.microsoft.com/office/drawing/2014/main" id="{728F80F8-A82B-CD46-9788-052B0916936A}"/>
              </a:ext>
            </a:extLst>
          </p:cNvPr>
          <p:cNvSpPr>
            <a:spLocks noGrp="1"/>
          </p:cNvSpPr>
          <p:nvPr>
            <p:ph type="title"/>
          </p:nvPr>
        </p:nvSpPr>
        <p:spPr>
          <a:xfrm>
            <a:off x="-12526" y="9526"/>
            <a:ext cx="10515600" cy="546910"/>
          </a:xfrm>
          <a:prstGeom prst="rect">
            <a:avLst/>
          </a:prstGeom>
        </p:spPr>
        <p:txBody>
          <a:bodyPr/>
          <a:lstStyle>
            <a:lvl1pPr algn="l">
              <a:defRPr sz="3200" b="0" i="0">
                <a:solidFill>
                  <a:schemeClr val="bg1"/>
                </a:solidFill>
                <a:latin typeface="Roboto Light" pitchFamily="2" charset="0"/>
                <a:ea typeface="Roboto Light" pitchFamily="2" charset="0"/>
              </a:defRPr>
            </a:lvl1pPr>
          </a:lstStyle>
          <a:p>
            <a:r>
              <a:rPr lang="en-GB" dirty="0"/>
              <a:t>Click to edit Master title style</a:t>
            </a:r>
            <a:endParaRPr lang="en-US" dirty="0"/>
          </a:p>
        </p:txBody>
      </p:sp>
      <p:sp>
        <p:nvSpPr>
          <p:cNvPr id="4" name="Text Placeholder 19">
            <a:extLst>
              <a:ext uri="{FF2B5EF4-FFF2-40B4-BE49-F238E27FC236}">
                <a16:creationId xmlns:a16="http://schemas.microsoft.com/office/drawing/2014/main" id="{9D837BB8-33C5-E34E-B9DD-07AF291488E1}"/>
              </a:ext>
            </a:extLst>
          </p:cNvPr>
          <p:cNvSpPr>
            <a:spLocks noGrp="1"/>
          </p:cNvSpPr>
          <p:nvPr>
            <p:ph type="body" sz="quarter" idx="10"/>
          </p:nvPr>
        </p:nvSpPr>
        <p:spPr>
          <a:xfrm>
            <a:off x="114300" y="901700"/>
            <a:ext cx="10388600" cy="825500"/>
          </a:xfrm>
          <a:prstGeom prst="rect">
            <a:avLst/>
          </a:prstGeom>
        </p:spPr>
        <p:txBody>
          <a:bodyPr/>
          <a:lstStyle>
            <a:lvl1pPr>
              <a:defRPr>
                <a:solidFill>
                  <a:schemeClr val="bg1"/>
                </a:solidFill>
                <a:latin typeface="Muli" pitchFamily="2" charset="77"/>
              </a:defRPr>
            </a:lvl1pPr>
            <a:lvl2pPr>
              <a:defRPr>
                <a:solidFill>
                  <a:schemeClr val="bg1"/>
                </a:solidFill>
                <a:latin typeface="Muli" pitchFamily="2" charset="77"/>
              </a:defRPr>
            </a:lvl2pPr>
            <a:lvl3pPr>
              <a:defRPr>
                <a:solidFill>
                  <a:schemeClr val="bg1"/>
                </a:solidFill>
                <a:latin typeface="Muli" pitchFamily="2" charset="77"/>
              </a:defRPr>
            </a:lvl3pPr>
            <a:lvl4pPr>
              <a:defRPr>
                <a:solidFill>
                  <a:schemeClr val="bg1"/>
                </a:solidFill>
                <a:latin typeface="Muli" pitchFamily="2" charset="77"/>
              </a:defRPr>
            </a:lvl4pPr>
            <a:lvl5pPr>
              <a:defRPr>
                <a:solidFill>
                  <a:schemeClr val="bg1"/>
                </a:solidFill>
                <a:latin typeface="Muli" pitchFamily="2" charset="77"/>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739003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381042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873" y="752755"/>
            <a:ext cx="10972800" cy="1143000"/>
          </a:xfrm>
          <a:prstGeom prst="rect">
            <a:avLst/>
          </a:prstGeom>
        </p:spPr>
        <p:txBody>
          <a:bodyPr/>
          <a:lstStyle>
            <a:lvl1pPr>
              <a:defRPr sz="3600">
                <a:solidFill>
                  <a:srgbClr val="0265BE"/>
                </a:solidFill>
                <a:latin typeface="Roboto Regular"/>
                <a:cs typeface="Roboto Regular"/>
              </a:defRPr>
            </a:lvl1pPr>
          </a:lstStyle>
          <a:p>
            <a:r>
              <a:rPr lang="en-US" dirty="0"/>
              <a:t>Click to edit Master title style</a:t>
            </a:r>
          </a:p>
        </p:txBody>
      </p:sp>
      <p:sp>
        <p:nvSpPr>
          <p:cNvPr id="3" name="Content Placeholder 2"/>
          <p:cNvSpPr>
            <a:spLocks noGrp="1"/>
          </p:cNvSpPr>
          <p:nvPr>
            <p:ph idx="1"/>
          </p:nvPr>
        </p:nvSpPr>
        <p:spPr>
          <a:xfrm>
            <a:off x="539873" y="2256117"/>
            <a:ext cx="10972800" cy="4280928"/>
          </a:xfrm>
          <a:prstGeom prst="rect">
            <a:avLst/>
          </a:prstGeom>
        </p:spPr>
        <p:txBody>
          <a:bodyPr/>
          <a:lstStyle>
            <a:lvl1pPr>
              <a:defRPr sz="2800">
                <a:latin typeface="Muli" pitchFamily="2" charset="77"/>
                <a:cs typeface="Muli" pitchFamily="2" charset="77"/>
              </a:defRPr>
            </a:lvl1pPr>
            <a:lvl2pPr>
              <a:defRPr b="0" i="0">
                <a:latin typeface="Muli" pitchFamily="2" charset="77"/>
                <a:ea typeface="Roboto Light" pitchFamily="2" charset="0"/>
                <a:cs typeface="Muli" pitchFamily="2" charset="77"/>
              </a:defRPr>
            </a:lvl2pPr>
            <a:lvl3pPr>
              <a:defRPr sz="2400" b="0" i="0">
                <a:latin typeface="Muli" pitchFamily="2" charset="77"/>
                <a:ea typeface="Roboto Light" pitchFamily="2" charset="0"/>
                <a:cs typeface="Muli" pitchFamily="2" charset="77"/>
              </a:defRPr>
            </a:lvl3pPr>
            <a:lvl4pPr>
              <a:defRPr b="0" i="0">
                <a:latin typeface="Muli" pitchFamily="2" charset="77"/>
                <a:ea typeface="Roboto Light" pitchFamily="2" charset="0"/>
                <a:cs typeface="Muli" pitchFamily="2" charset="77"/>
              </a:defRPr>
            </a:lvl4pPr>
            <a:lvl5pPr>
              <a:defRPr b="0" i="0">
                <a:latin typeface="Muli" pitchFamily="2" charset="77"/>
                <a:ea typeface="Roboto Light" pitchFamily="2" charset="0"/>
                <a:cs typeface="Muli"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995CFA89-2EB5-CB47-89F6-13D5D15C2989}"/>
              </a:ext>
            </a:extLst>
          </p:cNvPr>
          <p:cNvSpPr>
            <a:spLocks noGrp="1"/>
          </p:cNvSpPr>
          <p:nvPr>
            <p:ph type="body" sz="quarter" idx="10" hasCustomPrompt="1"/>
          </p:nvPr>
        </p:nvSpPr>
        <p:spPr>
          <a:xfrm>
            <a:off x="0" y="-25400"/>
            <a:ext cx="7272867" cy="392393"/>
          </a:xfrm>
          <a:prstGeom prst="rect">
            <a:avLst/>
          </a:prstGeom>
        </p:spPr>
        <p:txBody>
          <a:bodyPr/>
          <a:lstStyle>
            <a:lvl1pPr marL="0" indent="0">
              <a:buNone/>
              <a:defRPr sz="2400" b="0" i="0">
                <a:solidFill>
                  <a:schemeClr val="bg1"/>
                </a:solidFill>
                <a:latin typeface="Roboto" pitchFamily="2" charset="0"/>
                <a:ea typeface="Roboto" pitchFamily="2" charset="0"/>
              </a:defRPr>
            </a:lvl1pPr>
          </a:lstStyle>
          <a:p>
            <a:pPr lvl="0"/>
            <a:r>
              <a:rPr lang="en-US" b="0" i="0" dirty="0">
                <a:latin typeface="Muli Light" pitchFamily="2" charset="77"/>
              </a:rPr>
              <a:t>Title goes here</a:t>
            </a:r>
            <a:endParaRPr lang="en-US" dirty="0"/>
          </a:p>
        </p:txBody>
      </p:sp>
    </p:spTree>
    <p:extLst>
      <p:ext uri="{BB962C8B-B14F-4D97-AF65-F5344CB8AC3E}">
        <p14:creationId xmlns:p14="http://schemas.microsoft.com/office/powerpoint/2010/main" val="2947475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4261694"/>
      </p:ext>
    </p:extLst>
  </p:cSld>
  <p:clrMap bg1="lt1" tx1="dk1" bg2="lt2" tx2="dk2" accent1="accent1" accent2="accent2" accent3="accent3" accent4="accent4" accent5="accent5" accent6="accent6" hlink="hlink" folHlink="folHlink"/>
  <p:sldLayoutIdLst>
    <p:sldLayoutId id="2147483716" r:id="rId1"/>
    <p:sldLayoutId id="2147483648" r:id="rId2"/>
    <p:sldLayoutId id="2147483715" r:id="rId3"/>
    <p:sldLayoutId id="2147483720" r:id="rId4"/>
    <p:sldLayoutId id="214748372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CEBA3B17-FAAD-6BAD-A760-7E16554B7C97}"/>
              </a:ext>
            </a:extLst>
          </p:cNvPr>
          <p:cNvSpPr/>
          <p:nvPr/>
        </p:nvSpPr>
        <p:spPr>
          <a:xfrm>
            <a:off x="122872" y="118104"/>
            <a:ext cx="566928" cy="566928"/>
          </a:xfrm>
          <a:prstGeom prst="ellipse">
            <a:avLst/>
          </a:prstGeom>
          <a:solidFill>
            <a:schemeClr val="bg1"/>
          </a:solidFill>
          <a:ln>
            <a:noFill/>
          </a:ln>
          <a:effectLst>
            <a:outerShdw blurRad="101600" sx="110000" sy="110000" algn="ctr" rotWithShape="0">
              <a:srgbClr val="0066BE">
                <a:alpha val="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F3538BD-01C6-54BE-35D6-32235D8EBE3B}"/>
              </a:ext>
            </a:extLst>
          </p:cNvPr>
          <p:cNvSpPr txBox="1"/>
          <p:nvPr/>
        </p:nvSpPr>
        <p:spPr>
          <a:xfrm>
            <a:off x="694466" y="263068"/>
            <a:ext cx="1888935"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Read-Through-Rate</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9" name="TextBox 8">
            <a:extLst>
              <a:ext uri="{FF2B5EF4-FFF2-40B4-BE49-F238E27FC236}">
                <a16:creationId xmlns:a16="http://schemas.microsoft.com/office/drawing/2014/main" id="{723A4E6C-CF24-25FD-4803-A46217F4F42F}"/>
              </a:ext>
            </a:extLst>
          </p:cNvPr>
          <p:cNvSpPr txBox="1"/>
          <p:nvPr/>
        </p:nvSpPr>
        <p:spPr>
          <a:xfrm>
            <a:off x="478416" y="3606299"/>
            <a:ext cx="6630066" cy="1169551"/>
          </a:xfrm>
          <a:prstGeom prst="rect">
            <a:avLst/>
          </a:prstGeom>
          <a:noFill/>
        </p:spPr>
        <p:txBody>
          <a:bodyPr wrap="square">
            <a:spAutoFit/>
          </a:bodyPr>
          <a:lstStyle/>
          <a:p>
            <a:pPr algn="ctr">
              <a:lnSpc>
                <a:spcPct val="150000"/>
              </a:lnSpc>
            </a:pPr>
            <a:r>
              <a:rPr lang="en-GB" sz="1200" dirty="0">
                <a:solidFill>
                  <a:srgbClr val="59748A"/>
                </a:solidFill>
                <a:latin typeface="Roboto" panose="02000000000000000000" pitchFamily="2" charset="0"/>
                <a:ea typeface="Roboto" panose="02000000000000000000" pitchFamily="2" charset="0"/>
              </a:rPr>
              <a:t>Our proprietary Read-Through-Rate metric lets you determine the level of HCP engagement. Utilise this data to send reminders, recommendations, or equip your representatives so they can have more informed conversations based on the specific interests and engagement patterns of healthcare professionals. </a:t>
            </a:r>
            <a:endParaRPr lang="en-US" sz="1200" dirty="0">
              <a:solidFill>
                <a:srgbClr val="59748A"/>
              </a:solidFill>
              <a:latin typeface="Roboto" panose="02000000000000000000" pitchFamily="2" charset="0"/>
              <a:ea typeface="Roboto" panose="02000000000000000000" pitchFamily="2" charset="0"/>
            </a:endParaRPr>
          </a:p>
        </p:txBody>
      </p:sp>
      <p:sp>
        <p:nvSpPr>
          <p:cNvPr id="10" name="TextBox 9">
            <a:extLst>
              <a:ext uri="{FF2B5EF4-FFF2-40B4-BE49-F238E27FC236}">
                <a16:creationId xmlns:a16="http://schemas.microsoft.com/office/drawing/2014/main" id="{2F27BDB6-50B1-E417-F9CD-B5E4F2541FA2}"/>
              </a:ext>
            </a:extLst>
          </p:cNvPr>
          <p:cNvSpPr txBox="1"/>
          <p:nvPr/>
        </p:nvSpPr>
        <p:spPr>
          <a:xfrm>
            <a:off x="2592318" y="2897758"/>
            <a:ext cx="2680770" cy="400110"/>
          </a:xfrm>
          <a:prstGeom prst="rect">
            <a:avLst/>
          </a:prstGeom>
          <a:noFill/>
        </p:spPr>
        <p:txBody>
          <a:bodyPr wrap="square">
            <a:spAutoFit/>
          </a:bodyPr>
          <a:lstStyle/>
          <a:p>
            <a:pPr algn="ctr"/>
            <a:r>
              <a:rPr lang="en-GB" sz="2000" b="1" dirty="0">
                <a:solidFill>
                  <a:srgbClr val="0066BE"/>
                </a:solidFill>
                <a:latin typeface="Roboto" panose="02000000000000000000" pitchFamily="2" charset="0"/>
                <a:ea typeface="Roboto" panose="02000000000000000000" pitchFamily="2" charset="0"/>
              </a:rPr>
              <a:t>Read-Through-Rate</a:t>
            </a:r>
            <a:endParaRPr lang="en-US" sz="2000" b="1" dirty="0">
              <a:solidFill>
                <a:srgbClr val="0066BE"/>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6279E2AA-DC64-4F9B-6683-2292E8BFE0C3}"/>
              </a:ext>
            </a:extLst>
          </p:cNvPr>
          <p:cNvSpPr txBox="1"/>
          <p:nvPr/>
        </p:nvSpPr>
        <p:spPr>
          <a:xfrm>
            <a:off x="1148366" y="6063971"/>
            <a:ext cx="1422559" cy="276999"/>
          </a:xfrm>
          <a:prstGeom prst="rect">
            <a:avLst/>
          </a:prstGeom>
          <a:noFill/>
        </p:spPr>
        <p:txBody>
          <a:bodyPr wrap="square" rtlCol="0">
            <a:spAutoFit/>
          </a:bodyPr>
          <a:lstStyle/>
          <a:p>
            <a:r>
              <a:rPr lang="en-GB"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rPr>
              <a:t>Related modules |</a:t>
            </a:r>
            <a:endParaRPr lang="en-US" sz="1200" dirty="0">
              <a:solidFill>
                <a:srgbClr val="A8CBE9"/>
              </a:solidFill>
              <a:latin typeface="Roboto Medium" panose="02000000000000000000" pitchFamily="2" charset="0"/>
              <a:ea typeface="Roboto Medium" panose="02000000000000000000" pitchFamily="2" charset="0"/>
              <a:cs typeface="Roboto Medium" panose="02000000000000000000" pitchFamily="2" charset="0"/>
            </a:endParaRPr>
          </a:p>
        </p:txBody>
      </p:sp>
      <p:sp>
        <p:nvSpPr>
          <p:cNvPr id="21" name="TextBox 20">
            <a:extLst>
              <a:ext uri="{FF2B5EF4-FFF2-40B4-BE49-F238E27FC236}">
                <a16:creationId xmlns:a16="http://schemas.microsoft.com/office/drawing/2014/main" id="{A695D4A5-2730-247B-B4FB-F0B3311F5F45}"/>
              </a:ext>
            </a:extLst>
          </p:cNvPr>
          <p:cNvSpPr txBox="1"/>
          <p:nvPr/>
        </p:nvSpPr>
        <p:spPr>
          <a:xfrm>
            <a:off x="8154186" y="1391463"/>
            <a:ext cx="2024626" cy="400110"/>
          </a:xfrm>
          <a:prstGeom prst="rect">
            <a:avLst/>
          </a:prstGeom>
          <a:noFill/>
        </p:spPr>
        <p:txBody>
          <a:bodyPr wrap="square">
            <a:spAutoFit/>
          </a:bodyPr>
          <a:lstStyle/>
          <a:p>
            <a:r>
              <a:rPr lang="en-GB" sz="2000" b="1" dirty="0">
                <a:solidFill>
                  <a:schemeClr val="bg1"/>
                </a:solidFill>
                <a:effectLst/>
                <a:latin typeface="Roboto" panose="02000000000000000000" pitchFamily="2" charset="0"/>
                <a:ea typeface="Roboto" panose="02000000000000000000" pitchFamily="2" charset="0"/>
                <a:cs typeface="Roboto" panose="02000000000000000000" pitchFamily="2" charset="0"/>
              </a:rPr>
              <a:t>Key Features</a:t>
            </a:r>
            <a:endParaRPr lang="en-US" sz="2000"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2" name="TextBox 21">
            <a:extLst>
              <a:ext uri="{FF2B5EF4-FFF2-40B4-BE49-F238E27FC236}">
                <a16:creationId xmlns:a16="http://schemas.microsoft.com/office/drawing/2014/main" id="{8FB01F8D-0127-6ADD-32D1-5D35DF0218FE}"/>
              </a:ext>
            </a:extLst>
          </p:cNvPr>
          <p:cNvSpPr txBox="1"/>
          <p:nvPr/>
        </p:nvSpPr>
        <p:spPr>
          <a:xfrm>
            <a:off x="8237119" y="1928695"/>
            <a:ext cx="3822203" cy="2900794"/>
          </a:xfrm>
          <a:prstGeom prst="rect">
            <a:avLst/>
          </a:prstGeom>
          <a:noFill/>
        </p:spPr>
        <p:txBody>
          <a:bodyPr wrap="square">
            <a:spAutoFit/>
          </a:bodyPr>
          <a:lstStyle/>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First captures each HCP’s consent</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Track </a:t>
            </a:r>
            <a:r>
              <a:rPr lang="en-GB" sz="1200" dirty="0" err="1">
                <a:solidFill>
                  <a:schemeClr val="bg1"/>
                </a:solidFill>
                <a:latin typeface="Roboto" panose="02000000000000000000" pitchFamily="2" charset="0"/>
                <a:ea typeface="Roboto" panose="02000000000000000000" pitchFamily="2" charset="0"/>
              </a:rPr>
              <a:t>HCPs’</a:t>
            </a:r>
            <a:r>
              <a:rPr lang="en-GB" sz="1200" dirty="0">
                <a:solidFill>
                  <a:schemeClr val="bg1"/>
                </a:solidFill>
                <a:latin typeface="Roboto" panose="02000000000000000000" pitchFamily="2" charset="0"/>
                <a:ea typeface="Roboto" panose="02000000000000000000" pitchFamily="2" charset="0"/>
              </a:rPr>
              <a:t> reading on- and offline, on a browser or in app</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Track every engagement down to the second - spent on individual pages</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Data integrated into CRM Timeline</a:t>
            </a:r>
          </a:p>
          <a:p>
            <a:pPr marL="169863" indent="-169863">
              <a:lnSpc>
                <a:spcPts val="3200"/>
              </a:lnSpc>
              <a:buClr>
                <a:schemeClr val="bg1"/>
              </a:buClr>
              <a:buSzPct val="120000"/>
              <a:buFont typeface="Arial" panose="020B0604020202020204" pitchFamily="34" charset="0"/>
              <a:buChar char="•"/>
            </a:pPr>
            <a:r>
              <a:rPr lang="en-GB" sz="1200" dirty="0">
                <a:solidFill>
                  <a:schemeClr val="bg1"/>
                </a:solidFill>
                <a:latin typeface="Roboto" panose="02000000000000000000" pitchFamily="2" charset="0"/>
                <a:ea typeface="Roboto" panose="02000000000000000000" pitchFamily="2" charset="0"/>
              </a:rPr>
              <a:t>Collects key data for personalising AI predictions</a:t>
            </a:r>
            <a:endParaRPr lang="en-US" sz="1200" dirty="0">
              <a:solidFill>
                <a:schemeClr val="bg1"/>
              </a:solidFill>
              <a:latin typeface="Roboto" panose="02000000000000000000" pitchFamily="2" charset="0"/>
              <a:ea typeface="Roboto" panose="02000000000000000000" pitchFamily="2" charset="0"/>
            </a:endParaRPr>
          </a:p>
        </p:txBody>
      </p:sp>
      <p:grpSp>
        <p:nvGrpSpPr>
          <p:cNvPr id="35" name="Group 34">
            <a:extLst>
              <a:ext uri="{FF2B5EF4-FFF2-40B4-BE49-F238E27FC236}">
                <a16:creationId xmlns:a16="http://schemas.microsoft.com/office/drawing/2014/main" id="{C90DE62A-22CC-C20D-180A-88D1B5A58876}"/>
              </a:ext>
            </a:extLst>
          </p:cNvPr>
          <p:cNvGrpSpPr/>
          <p:nvPr/>
        </p:nvGrpSpPr>
        <p:grpSpPr>
          <a:xfrm>
            <a:off x="3348042" y="5872509"/>
            <a:ext cx="676656" cy="658368"/>
            <a:chOff x="4328355" y="4958505"/>
            <a:chExt cx="676656" cy="658368"/>
          </a:xfrm>
        </p:grpSpPr>
        <p:grpSp>
          <p:nvGrpSpPr>
            <p:cNvPr id="36" name="Group 35">
              <a:extLst>
                <a:ext uri="{FF2B5EF4-FFF2-40B4-BE49-F238E27FC236}">
                  <a16:creationId xmlns:a16="http://schemas.microsoft.com/office/drawing/2014/main" id="{8BA3B4F5-BA5B-DDBA-098D-CFBB5527DA2C}"/>
                </a:ext>
              </a:extLst>
            </p:cNvPr>
            <p:cNvGrpSpPr/>
            <p:nvPr/>
          </p:nvGrpSpPr>
          <p:grpSpPr>
            <a:xfrm>
              <a:off x="4342958" y="4958505"/>
              <a:ext cx="658368" cy="658368"/>
              <a:chOff x="2717229" y="4899401"/>
              <a:chExt cx="658368" cy="658368"/>
            </a:xfrm>
          </p:grpSpPr>
          <p:sp>
            <p:nvSpPr>
              <p:cNvPr id="39" name="Oval 38">
                <a:extLst>
                  <a:ext uri="{FF2B5EF4-FFF2-40B4-BE49-F238E27FC236}">
                    <a16:creationId xmlns:a16="http://schemas.microsoft.com/office/drawing/2014/main" id="{D48B9D0D-3737-7D04-A951-9049ACB174B9}"/>
                  </a:ext>
                </a:extLst>
              </p:cNvPr>
              <p:cNvSpPr/>
              <p:nvPr/>
            </p:nvSpPr>
            <p:spPr>
              <a:xfrm>
                <a:off x="2753805" y="4935977"/>
                <a:ext cx="585216" cy="585216"/>
              </a:xfrm>
              <a:prstGeom prst="ellipse">
                <a:avLst/>
              </a:prstGeom>
              <a:solidFill>
                <a:srgbClr val="00A4BF"/>
              </a:solidFill>
              <a:ln>
                <a:noFill/>
              </a:ln>
              <a:effectLst>
                <a:outerShdw blurRad="63500" sx="103000" sy="103000" algn="ctr" rotWithShape="0">
                  <a:srgbClr val="00A4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AFF903B2-7884-9F7D-B161-9F3897C6CD37}"/>
                  </a:ext>
                </a:extLst>
              </p:cNvPr>
              <p:cNvSpPr/>
              <p:nvPr/>
            </p:nvSpPr>
            <p:spPr>
              <a:xfrm>
                <a:off x="2717229" y="4899401"/>
                <a:ext cx="658368" cy="658368"/>
              </a:xfrm>
              <a:prstGeom prst="ellipse">
                <a:avLst/>
              </a:prstGeom>
              <a:noFill/>
              <a:ln w="6350">
                <a:solidFill>
                  <a:srgbClr val="00A4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20D04ABD-BEB4-6CB5-19D0-2441566C88C1}"/>
                </a:ext>
              </a:extLst>
            </p:cNvPr>
            <p:cNvSpPr txBox="1"/>
            <p:nvPr/>
          </p:nvSpPr>
          <p:spPr>
            <a:xfrm>
              <a:off x="4328355" y="5257564"/>
              <a:ext cx="676656" cy="184666"/>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Consent</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38" name="Graphic 37">
              <a:extLst>
                <a:ext uri="{FF2B5EF4-FFF2-40B4-BE49-F238E27FC236}">
                  <a16:creationId xmlns:a16="http://schemas.microsoft.com/office/drawing/2014/main" id="{0C70865A-FFEE-4B00-2E55-BC72DA36B4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7718" y="5052271"/>
              <a:ext cx="201168" cy="201168"/>
            </a:xfrm>
            <a:prstGeom prst="rect">
              <a:avLst/>
            </a:prstGeom>
          </p:spPr>
        </p:pic>
      </p:grpSp>
      <p:grpSp>
        <p:nvGrpSpPr>
          <p:cNvPr id="3" name="Group 2">
            <a:extLst>
              <a:ext uri="{FF2B5EF4-FFF2-40B4-BE49-F238E27FC236}">
                <a16:creationId xmlns:a16="http://schemas.microsoft.com/office/drawing/2014/main" id="{D125C229-324F-9210-B0A4-CC3B2FBAA795}"/>
              </a:ext>
            </a:extLst>
          </p:cNvPr>
          <p:cNvGrpSpPr/>
          <p:nvPr/>
        </p:nvGrpSpPr>
        <p:grpSpPr>
          <a:xfrm>
            <a:off x="4157758" y="5872509"/>
            <a:ext cx="676656" cy="658368"/>
            <a:chOff x="8066755" y="3385401"/>
            <a:chExt cx="676656" cy="658368"/>
          </a:xfrm>
        </p:grpSpPr>
        <p:grpSp>
          <p:nvGrpSpPr>
            <p:cNvPr id="5" name="Group 4">
              <a:extLst>
                <a:ext uri="{FF2B5EF4-FFF2-40B4-BE49-F238E27FC236}">
                  <a16:creationId xmlns:a16="http://schemas.microsoft.com/office/drawing/2014/main" id="{6BFC21D0-1845-49A1-C2B5-E0DD3DE4CF98}"/>
                </a:ext>
              </a:extLst>
            </p:cNvPr>
            <p:cNvGrpSpPr/>
            <p:nvPr/>
          </p:nvGrpSpPr>
          <p:grpSpPr>
            <a:xfrm>
              <a:off x="8075899" y="3385401"/>
              <a:ext cx="658368" cy="658368"/>
              <a:chOff x="2717229" y="4899401"/>
              <a:chExt cx="658368" cy="658368"/>
            </a:xfrm>
          </p:grpSpPr>
          <p:sp>
            <p:nvSpPr>
              <p:cNvPr id="8" name="Oval 7">
                <a:extLst>
                  <a:ext uri="{FF2B5EF4-FFF2-40B4-BE49-F238E27FC236}">
                    <a16:creationId xmlns:a16="http://schemas.microsoft.com/office/drawing/2014/main" id="{C555B22E-1174-C7BC-0FA5-7BF0046E8D27}"/>
                  </a:ext>
                </a:extLst>
              </p:cNvPr>
              <p:cNvSpPr/>
              <p:nvPr/>
            </p:nvSpPr>
            <p:spPr>
              <a:xfrm>
                <a:off x="2753805" y="4935977"/>
                <a:ext cx="585216" cy="585216"/>
              </a:xfrm>
              <a:prstGeom prst="ellipse">
                <a:avLst/>
              </a:prstGeom>
              <a:solidFill>
                <a:srgbClr val="00C1BF"/>
              </a:solidFill>
              <a:ln>
                <a:noFill/>
              </a:ln>
              <a:effectLst>
                <a:outerShdw blurRad="63500" sx="103000" sy="103000" algn="ctr" rotWithShape="0">
                  <a:srgbClr val="00C1BF"/>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49D1D426-6FCC-4094-E231-1DE2DCC96904}"/>
                  </a:ext>
                </a:extLst>
              </p:cNvPr>
              <p:cNvSpPr/>
              <p:nvPr/>
            </p:nvSpPr>
            <p:spPr>
              <a:xfrm>
                <a:off x="2717229" y="4899401"/>
                <a:ext cx="658368" cy="658368"/>
              </a:xfrm>
              <a:prstGeom prst="ellipse">
                <a:avLst/>
              </a:prstGeom>
              <a:noFill/>
              <a:ln w="6350">
                <a:solidFill>
                  <a:srgbClr val="00C1BF"/>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3E6662D1-950A-1F6F-BBDF-2E9CB8EE6B02}"/>
                </a:ext>
              </a:extLst>
            </p:cNvPr>
            <p:cNvSpPr txBox="1"/>
            <p:nvPr/>
          </p:nvSpPr>
          <p:spPr>
            <a:xfrm>
              <a:off x="8066755" y="3686097"/>
              <a:ext cx="676656" cy="276999"/>
            </a:xfrm>
            <a:prstGeom prst="rect">
              <a:avLst/>
            </a:prstGeom>
            <a:noFill/>
          </p:spPr>
          <p:txBody>
            <a:bodyPr wrap="square" rtlCol="0">
              <a:spAutoFit/>
            </a:bodyPr>
            <a:lstStyle/>
            <a:p>
              <a:pPr algn="ctr"/>
              <a:r>
                <a:rPr lang="en-GB"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AI Prediction Tool</a:t>
              </a:r>
              <a:endPar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endParaRPr>
            </a:p>
          </p:txBody>
        </p:sp>
        <p:pic>
          <p:nvPicPr>
            <p:cNvPr id="7" name="Graphic 6">
              <a:extLst>
                <a:ext uri="{FF2B5EF4-FFF2-40B4-BE49-F238E27FC236}">
                  <a16:creationId xmlns:a16="http://schemas.microsoft.com/office/drawing/2014/main" id="{1ECD625B-5B62-F1BF-8583-E9289C3B66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04499" y="3463236"/>
              <a:ext cx="201168" cy="201168"/>
            </a:xfrm>
            <a:prstGeom prst="rect">
              <a:avLst/>
            </a:prstGeom>
          </p:spPr>
        </p:pic>
      </p:grpSp>
      <p:grpSp>
        <p:nvGrpSpPr>
          <p:cNvPr id="12" name="Group 11">
            <a:extLst>
              <a:ext uri="{FF2B5EF4-FFF2-40B4-BE49-F238E27FC236}">
                <a16:creationId xmlns:a16="http://schemas.microsoft.com/office/drawing/2014/main" id="{18108184-2BCF-AFCF-51BF-671E455294B4}"/>
              </a:ext>
            </a:extLst>
          </p:cNvPr>
          <p:cNvGrpSpPr/>
          <p:nvPr/>
        </p:nvGrpSpPr>
        <p:grpSpPr>
          <a:xfrm>
            <a:off x="2546598" y="5872509"/>
            <a:ext cx="676656" cy="658368"/>
            <a:chOff x="5926723" y="3391583"/>
            <a:chExt cx="676656" cy="658368"/>
          </a:xfrm>
        </p:grpSpPr>
        <p:grpSp>
          <p:nvGrpSpPr>
            <p:cNvPr id="13" name="Group 12">
              <a:extLst>
                <a:ext uri="{FF2B5EF4-FFF2-40B4-BE49-F238E27FC236}">
                  <a16:creationId xmlns:a16="http://schemas.microsoft.com/office/drawing/2014/main" id="{75D4B426-29DC-8CD0-0123-D1F43C6237C1}"/>
                </a:ext>
              </a:extLst>
            </p:cNvPr>
            <p:cNvGrpSpPr/>
            <p:nvPr/>
          </p:nvGrpSpPr>
          <p:grpSpPr>
            <a:xfrm>
              <a:off x="5935867" y="3391583"/>
              <a:ext cx="658368" cy="658368"/>
              <a:chOff x="2717229" y="4899401"/>
              <a:chExt cx="658368" cy="658368"/>
            </a:xfrm>
          </p:grpSpPr>
          <p:sp>
            <p:nvSpPr>
              <p:cNvPr id="17" name="Oval 16">
                <a:extLst>
                  <a:ext uri="{FF2B5EF4-FFF2-40B4-BE49-F238E27FC236}">
                    <a16:creationId xmlns:a16="http://schemas.microsoft.com/office/drawing/2014/main" id="{AD380986-88D4-ABD1-5FEC-36E43F2D65FA}"/>
                  </a:ext>
                </a:extLst>
              </p:cNvPr>
              <p:cNvSpPr/>
              <p:nvPr/>
            </p:nvSpPr>
            <p:spPr>
              <a:xfrm>
                <a:off x="2753805" y="4935977"/>
                <a:ext cx="585216" cy="585216"/>
              </a:xfrm>
              <a:prstGeom prst="ellipse">
                <a:avLst/>
              </a:prstGeom>
              <a:solidFill>
                <a:srgbClr val="0066BE"/>
              </a:solidFill>
              <a:ln>
                <a:noFill/>
              </a:ln>
              <a:effectLst>
                <a:outerShdw blurRad="63500" sx="103000" sy="103000" algn="ctr" rotWithShape="0">
                  <a:srgbClr val="0066BE"/>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11130A89-19B0-C7FC-A55D-2FCAD41621FE}"/>
                  </a:ext>
                </a:extLst>
              </p:cNvPr>
              <p:cNvSpPr/>
              <p:nvPr/>
            </p:nvSpPr>
            <p:spPr>
              <a:xfrm>
                <a:off x="2717229" y="4899401"/>
                <a:ext cx="658368" cy="658368"/>
              </a:xfrm>
              <a:prstGeom prst="ellipse">
                <a:avLst/>
              </a:prstGeom>
              <a:noFill/>
              <a:ln w="6350">
                <a:solidFill>
                  <a:srgbClr val="0066BE"/>
                </a:solidFill>
                <a:prstDash val="dash"/>
                <a:beve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C412E229-6DCD-548D-DDF9-596DE111FFBF}"/>
                </a:ext>
              </a:extLst>
            </p:cNvPr>
            <p:cNvSpPr txBox="1"/>
            <p:nvPr/>
          </p:nvSpPr>
          <p:spPr>
            <a:xfrm>
              <a:off x="5926723" y="3692279"/>
              <a:ext cx="676656" cy="184666"/>
            </a:xfrm>
            <a:prstGeom prst="rect">
              <a:avLst/>
            </a:prstGeom>
            <a:noFill/>
          </p:spPr>
          <p:txBody>
            <a:bodyPr wrap="square" rtlCol="0">
              <a:spAutoFit/>
            </a:bodyPr>
            <a:lstStyle/>
            <a:p>
              <a:pPr algn="ctr"/>
              <a:r>
                <a:rPr lang="en-US" sz="600" dirty="0">
                  <a:solidFill>
                    <a:schemeClr val="bg1"/>
                  </a:solidFill>
                  <a:latin typeface="Roboto Medium" panose="02000000000000000000" pitchFamily="2" charset="0"/>
                  <a:ea typeface="Roboto Medium" panose="02000000000000000000" pitchFamily="2" charset="0"/>
                  <a:cs typeface="Roboto Medium" panose="02000000000000000000" pitchFamily="2" charset="0"/>
                </a:rPr>
                <a:t>Docintel.app</a:t>
              </a:r>
            </a:p>
          </p:txBody>
        </p:sp>
        <p:pic>
          <p:nvPicPr>
            <p:cNvPr id="16" name="Graphic 15">
              <a:extLst>
                <a:ext uri="{FF2B5EF4-FFF2-40B4-BE49-F238E27FC236}">
                  <a16:creationId xmlns:a16="http://schemas.microsoft.com/office/drawing/2014/main" id="{0794D853-B6AF-A5C9-E1AF-D08CE0D9F05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64467" y="3475271"/>
              <a:ext cx="201168" cy="201168"/>
            </a:xfrm>
            <a:prstGeom prst="rect">
              <a:avLst/>
            </a:prstGeom>
          </p:spPr>
        </p:pic>
      </p:grpSp>
      <p:pic>
        <p:nvPicPr>
          <p:cNvPr id="19" name="Picture 18" descr="A screenshot of a browser&#10;&#10;Description automatically generated">
            <a:extLst>
              <a:ext uri="{FF2B5EF4-FFF2-40B4-BE49-F238E27FC236}">
                <a16:creationId xmlns:a16="http://schemas.microsoft.com/office/drawing/2014/main" id="{015B51F5-440E-8A47-8307-2FC04C510B4E}"/>
              </a:ext>
            </a:extLst>
          </p:cNvPr>
          <p:cNvPicPr>
            <a:picLocks noChangeAspect="1"/>
          </p:cNvPicPr>
          <p:nvPr/>
        </p:nvPicPr>
        <p:blipFill>
          <a:blip r:embed="rId9"/>
          <a:stretch>
            <a:fillRect/>
          </a:stretch>
        </p:blipFill>
        <p:spPr>
          <a:xfrm>
            <a:off x="2271275" y="1291662"/>
            <a:ext cx="3062884" cy="1073051"/>
          </a:xfrm>
          <a:prstGeom prst="rect">
            <a:avLst/>
          </a:prstGeom>
        </p:spPr>
      </p:pic>
      <p:pic>
        <p:nvPicPr>
          <p:cNvPr id="58" name="Graphic 57">
            <a:extLst>
              <a:ext uri="{FF2B5EF4-FFF2-40B4-BE49-F238E27FC236}">
                <a16:creationId xmlns:a16="http://schemas.microsoft.com/office/drawing/2014/main" id="{90EE4EC0-8186-9151-F9BF-704DF91BF89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5558" y="241547"/>
            <a:ext cx="320040" cy="320040"/>
          </a:xfrm>
          <a:prstGeom prst="rect">
            <a:avLst/>
          </a:prstGeom>
        </p:spPr>
      </p:pic>
    </p:spTree>
    <p:extLst>
      <p:ext uri="{BB962C8B-B14F-4D97-AF65-F5344CB8AC3E}">
        <p14:creationId xmlns:p14="http://schemas.microsoft.com/office/powerpoint/2010/main" val="36992880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binar Deck" id="{7A23AA72-971C-E242-B048-39576FC5F3DC}" vid="{A1799C23-9543-3846-A9C6-869377834B9B}"/>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0</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6</cp:revision>
  <dcterms:created xsi:type="dcterms:W3CDTF">2013-07-15T20:26:40Z</dcterms:created>
  <dcterms:modified xsi:type="dcterms:W3CDTF">2023-10-17T12:09:52Z</dcterms:modified>
</cp:coreProperties>
</file>