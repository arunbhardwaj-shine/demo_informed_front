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4" r:id="rId2"/>
  </p:sld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E1D2DA-DF4B-496C-930B-39C3BB24B329}" v="2" dt="2023-10-17T11:31:58.8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9FA3AC-8899-DC44-8ACE-DE70FCE85A10}"/>
              </a:ext>
            </a:extLst>
          </p:cNvPr>
          <p:cNvSpPr/>
          <p:nvPr userDrawn="1"/>
        </p:nvSpPr>
        <p:spPr>
          <a:xfrm>
            <a:off x="-1" y="-12699"/>
            <a:ext cx="11684001" cy="568960"/>
          </a:xfrm>
          <a:prstGeom prst="rect">
            <a:avLst/>
          </a:prstGeom>
          <a:solidFill>
            <a:srgbClr val="1F6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64805866-AE00-6147-BF2C-BDEEC0238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BE429170-0933-7047-BB5C-5CBA2DD389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E69B0"/>
                </a:solidFill>
                <a:latin typeface="Muli" pitchFamily="2" charset="77"/>
              </a:defRPr>
            </a:lvl1pPr>
            <a:lvl2pPr>
              <a:defRPr>
                <a:solidFill>
                  <a:srgbClr val="1E69B0"/>
                </a:solidFill>
                <a:latin typeface="Muli" pitchFamily="2" charset="77"/>
              </a:defRPr>
            </a:lvl2pPr>
            <a:lvl3pPr>
              <a:defRPr>
                <a:solidFill>
                  <a:srgbClr val="1E69B0"/>
                </a:solidFill>
                <a:latin typeface="Muli" pitchFamily="2" charset="77"/>
              </a:defRPr>
            </a:lvl3pPr>
            <a:lvl4pPr>
              <a:defRPr>
                <a:solidFill>
                  <a:srgbClr val="1E69B0"/>
                </a:solidFill>
                <a:latin typeface="Muli" pitchFamily="2" charset="77"/>
              </a:defRPr>
            </a:lvl4pPr>
            <a:lvl5pPr>
              <a:defRPr>
                <a:solidFill>
                  <a:srgbClr val="1E69B0"/>
                </a:solidFill>
                <a:latin typeface="Muli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4F52FE-25F1-FB42-BF78-727AE3F5A47F}"/>
              </a:ext>
            </a:extLst>
          </p:cNvPr>
          <p:cNvSpPr/>
          <p:nvPr userDrawn="1"/>
        </p:nvSpPr>
        <p:spPr>
          <a:xfrm>
            <a:off x="11801475" y="901700"/>
            <a:ext cx="390525" cy="241300"/>
          </a:xfrm>
          <a:prstGeom prst="rect">
            <a:avLst/>
          </a:prstGeom>
          <a:solidFill>
            <a:srgbClr val="1F66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49DD305-009C-624C-AB17-3DE215394C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6300" y="-12525"/>
            <a:ext cx="11557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2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3A82-0C89-6448-899F-3A09AE2B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04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1E69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7">
            <a:extLst>
              <a:ext uri="{FF2B5EF4-FFF2-40B4-BE49-F238E27FC236}">
                <a16:creationId xmlns:a16="http://schemas.microsoft.com/office/drawing/2014/main" id="{728F80F8-A82B-CD46-9788-052B0916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D837BB8-33C5-E34E-B9DD-07AF291488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Muli" pitchFamily="2" charset="77"/>
              </a:defRPr>
            </a:lvl1pPr>
            <a:lvl2pPr>
              <a:defRPr>
                <a:solidFill>
                  <a:schemeClr val="bg1"/>
                </a:solidFill>
                <a:latin typeface="Muli" pitchFamily="2" charset="77"/>
              </a:defRPr>
            </a:lvl2pPr>
            <a:lvl3pPr>
              <a:defRPr>
                <a:solidFill>
                  <a:schemeClr val="bg1"/>
                </a:solidFill>
                <a:latin typeface="Muli" pitchFamily="2" charset="77"/>
              </a:defRPr>
            </a:lvl3pPr>
            <a:lvl4pPr>
              <a:defRPr>
                <a:solidFill>
                  <a:schemeClr val="bg1"/>
                </a:solidFill>
                <a:latin typeface="Muli" pitchFamily="2" charset="77"/>
              </a:defRPr>
            </a:lvl4pPr>
            <a:lvl5pPr>
              <a:defRPr>
                <a:solidFill>
                  <a:schemeClr val="bg1"/>
                </a:solidFill>
                <a:latin typeface="Muli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003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42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475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26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648" r:id="rId2"/>
    <p:sldLayoutId id="2147483715" r:id="rId3"/>
    <p:sldLayoutId id="2147483720" r:id="rId4"/>
    <p:sldLayoutId id="214748372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FFA3BE5-77D8-8EEB-1C8F-25FCE371C373}"/>
              </a:ext>
            </a:extLst>
          </p:cNvPr>
          <p:cNvGrpSpPr/>
          <p:nvPr/>
        </p:nvGrpSpPr>
        <p:grpSpPr>
          <a:xfrm>
            <a:off x="2544563" y="5835933"/>
            <a:ext cx="676656" cy="658368"/>
            <a:chOff x="2144967" y="4958505"/>
            <a:chExt cx="676656" cy="65836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2B79E51-334E-A0E3-07FA-5EC5A51CA97B}"/>
                </a:ext>
              </a:extLst>
            </p:cNvPr>
            <p:cNvGrpSpPr/>
            <p:nvPr/>
          </p:nvGrpSpPr>
          <p:grpSpPr>
            <a:xfrm>
              <a:off x="2154111" y="4958505"/>
              <a:ext cx="658368" cy="658368"/>
              <a:chOff x="2717229" y="4899401"/>
              <a:chExt cx="658368" cy="658368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605E4E5-9C67-4600-5095-B18AEC6D6CD0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5A6BB5"/>
              </a:solidFill>
              <a:ln>
                <a:noFill/>
              </a:ln>
              <a:effectLst>
                <a:outerShdw blurRad="63500" sx="103000" sy="103000" algn="ctr" rotWithShape="0">
                  <a:srgbClr val="5A6BB5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C13F695-5508-2F35-EB59-903AA1F6DDC9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5A6BB5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1F3BA31-A618-076B-599E-1F184CDD9A10}"/>
                </a:ext>
              </a:extLst>
            </p:cNvPr>
            <p:cNvSpPr txBox="1"/>
            <p:nvPr/>
          </p:nvSpPr>
          <p:spPr>
            <a:xfrm>
              <a:off x="2144967" y="5285009"/>
              <a:ext cx="6766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Read-Through</a:t>
              </a:r>
            </a:p>
            <a:p>
              <a:pPr algn="ctr"/>
              <a:r>
                <a:rPr lang="en-GB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-Rate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396922A3-3B0E-543C-3C3E-3D8121B8C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68995" y="5059089"/>
              <a:ext cx="228600" cy="2286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091D884-3C33-9375-EF0A-D02C5FBE7090}"/>
              </a:ext>
            </a:extLst>
          </p:cNvPr>
          <p:cNvGrpSpPr/>
          <p:nvPr/>
        </p:nvGrpSpPr>
        <p:grpSpPr>
          <a:xfrm>
            <a:off x="3300719" y="5835933"/>
            <a:ext cx="676656" cy="658368"/>
            <a:chOff x="2868804" y="4955825"/>
            <a:chExt cx="676656" cy="65836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94D418A-52D5-C88D-21ED-B92BC596675E}"/>
                </a:ext>
              </a:extLst>
            </p:cNvPr>
            <p:cNvGrpSpPr/>
            <p:nvPr/>
          </p:nvGrpSpPr>
          <p:grpSpPr>
            <a:xfrm>
              <a:off x="2880043" y="4955825"/>
              <a:ext cx="658368" cy="658368"/>
              <a:chOff x="2717229" y="4899401"/>
              <a:chExt cx="658368" cy="658368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3F7458B4-E716-49AD-B7D9-36088F434CE2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6E52A2"/>
              </a:solidFill>
              <a:ln>
                <a:noFill/>
              </a:ln>
              <a:effectLst>
                <a:outerShdw blurRad="63500" sx="103000" sy="103000" algn="ctr" rotWithShape="0">
                  <a:srgbClr val="6E52A2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12343D10-DF01-1A69-67C5-D5E67CBA6AC0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6E52A2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E5657CA-EA84-01E3-1732-598183FD84C4}"/>
                </a:ext>
              </a:extLst>
            </p:cNvPr>
            <p:cNvSpPr txBox="1"/>
            <p:nvPr/>
          </p:nvSpPr>
          <p:spPr>
            <a:xfrm>
              <a:off x="2868804" y="5267884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Web Portal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4ACA440-469F-ED66-CAEE-078F373AA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106548" y="5055680"/>
              <a:ext cx="201168" cy="20116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A0B5183-0BB3-69C1-0C37-5BDBAAA6C4A8}"/>
              </a:ext>
            </a:extLst>
          </p:cNvPr>
          <p:cNvGrpSpPr/>
          <p:nvPr/>
        </p:nvGrpSpPr>
        <p:grpSpPr>
          <a:xfrm>
            <a:off x="4077258" y="5835933"/>
            <a:ext cx="676656" cy="658368"/>
            <a:chOff x="4328355" y="4958505"/>
            <a:chExt cx="676656" cy="65836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06F945D-9964-86CE-6B94-A72ABA0EE71F}"/>
                </a:ext>
              </a:extLst>
            </p:cNvPr>
            <p:cNvGrpSpPr/>
            <p:nvPr/>
          </p:nvGrpSpPr>
          <p:grpSpPr>
            <a:xfrm>
              <a:off x="4342958" y="4958505"/>
              <a:ext cx="658368" cy="658368"/>
              <a:chOff x="2717229" y="4899401"/>
              <a:chExt cx="658368" cy="658368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B069C847-888A-3E25-7C82-ACC014A2E5DB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A4BF"/>
              </a:solidFill>
              <a:ln>
                <a:noFill/>
              </a:ln>
              <a:effectLst>
                <a:outerShdw blurRad="63500" sx="103000" sy="103000" algn="ctr" rotWithShape="0">
                  <a:srgbClr val="00A4BF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161CA2D8-BA88-D52C-BF8D-8D7AA33C5677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A4BF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BC22719-085D-9E1C-569B-1AEE5F69691A}"/>
                </a:ext>
              </a:extLst>
            </p:cNvPr>
            <p:cNvSpPr txBox="1"/>
            <p:nvPr/>
          </p:nvSpPr>
          <p:spPr>
            <a:xfrm>
              <a:off x="4328355" y="5257564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Consent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4BC0FD7B-6805-2300-09BA-1918021E4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577718" y="5052271"/>
              <a:ext cx="201168" cy="201168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A62A18C-A3A1-7C4E-D098-EEA428F30D3D}"/>
              </a:ext>
            </a:extLst>
          </p:cNvPr>
          <p:cNvGrpSpPr/>
          <p:nvPr/>
        </p:nvGrpSpPr>
        <p:grpSpPr>
          <a:xfrm>
            <a:off x="4948413" y="5835933"/>
            <a:ext cx="676656" cy="658368"/>
            <a:chOff x="9767649" y="3391071"/>
            <a:chExt cx="676656" cy="658368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AD0BD58A-9DDB-ED09-2BE3-6B5B9A48BB33}"/>
                </a:ext>
              </a:extLst>
            </p:cNvPr>
            <p:cNvGrpSpPr/>
            <p:nvPr/>
          </p:nvGrpSpPr>
          <p:grpSpPr>
            <a:xfrm>
              <a:off x="9776793" y="3391071"/>
              <a:ext cx="658368" cy="658368"/>
              <a:chOff x="2717229" y="4899401"/>
              <a:chExt cx="658368" cy="658368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921D1570-3D2B-85FC-AB93-9634B6545889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2B9BC8"/>
              </a:solidFill>
              <a:ln>
                <a:noFill/>
              </a:ln>
              <a:effectLst>
                <a:outerShdw blurRad="63500" sx="103000" sy="103000" algn="ctr" rotWithShape="0">
                  <a:srgbClr val="2B9BC8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774ECF5E-9928-B77A-E9C7-AFBEFD3A4C7C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2B9BC8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F233E00-8152-A42C-2D97-418A42A64DDF}"/>
                </a:ext>
              </a:extLst>
            </p:cNvPr>
            <p:cNvSpPr txBox="1"/>
            <p:nvPr/>
          </p:nvSpPr>
          <p:spPr>
            <a:xfrm>
              <a:off x="9767649" y="3691767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Rating Tool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40DAF0D-9251-32E3-F008-9AFA4C05C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005393" y="3468906"/>
              <a:ext cx="201168" cy="201168"/>
            </a:xfrm>
            <a:prstGeom prst="rect">
              <a:avLst/>
            </a:prstGeom>
          </p:spPr>
        </p:pic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CEBA3B17-FAAD-6BAD-A760-7E16554B7C97}"/>
              </a:ext>
            </a:extLst>
          </p:cNvPr>
          <p:cNvSpPr/>
          <p:nvPr/>
        </p:nvSpPr>
        <p:spPr>
          <a:xfrm>
            <a:off x="122872" y="118104"/>
            <a:ext cx="566928" cy="56692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sx="110000" sy="110000" algn="ctr" rotWithShape="0">
              <a:srgbClr val="0066BE">
                <a:alpha val="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538BD-01C6-54BE-35D6-32235D8EBE3B}"/>
              </a:ext>
            </a:extLst>
          </p:cNvPr>
          <p:cNvSpPr txBox="1"/>
          <p:nvPr/>
        </p:nvSpPr>
        <p:spPr>
          <a:xfrm>
            <a:off x="694466" y="263068"/>
            <a:ext cx="1888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Docintel.app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3A4E6C-CF24-25FD-4803-A46217F4F42F}"/>
              </a:ext>
            </a:extLst>
          </p:cNvPr>
          <p:cNvSpPr txBox="1"/>
          <p:nvPr/>
        </p:nvSpPr>
        <p:spPr>
          <a:xfrm>
            <a:off x="478416" y="3606299"/>
            <a:ext cx="663006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Beyond our elegant and user-friendly interfaces lies perhaps the most sophisticated and versatile technology accessible to publishers. Letting HCPs read on any device means flexibility for your clients and freedom to drive usage. </a:t>
            </a:r>
            <a:b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Tailorable consent mechanisms, usage tracking, live analytics, multimedia content choices, and interactivity are all designed to enhance your client offer.</a:t>
            </a:r>
            <a:endParaRPr lang="en-US" sz="1200" dirty="0">
              <a:solidFill>
                <a:srgbClr val="59748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27BDB6-50B1-E417-F9CD-B5E4F2541FA2}"/>
              </a:ext>
            </a:extLst>
          </p:cNvPr>
          <p:cNvSpPr txBox="1"/>
          <p:nvPr/>
        </p:nvSpPr>
        <p:spPr>
          <a:xfrm>
            <a:off x="2583401" y="3031727"/>
            <a:ext cx="2420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rgbClr val="0066B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Docintel.app</a:t>
            </a:r>
            <a:endParaRPr lang="en-US" sz="2000" b="1" dirty="0">
              <a:solidFill>
                <a:srgbClr val="0066BE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79E2AA-DC64-4F9B-6683-2292E8BFE0C3}"/>
              </a:ext>
            </a:extLst>
          </p:cNvPr>
          <p:cNvSpPr txBox="1"/>
          <p:nvPr/>
        </p:nvSpPr>
        <p:spPr>
          <a:xfrm>
            <a:off x="1148366" y="6063971"/>
            <a:ext cx="1422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Related modules |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95D4A5-2730-247B-B4FB-F0B3311F5F45}"/>
              </a:ext>
            </a:extLst>
          </p:cNvPr>
          <p:cNvSpPr txBox="1"/>
          <p:nvPr/>
        </p:nvSpPr>
        <p:spPr>
          <a:xfrm>
            <a:off x="8154186" y="1391463"/>
            <a:ext cx="2024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Features</a:t>
            </a:r>
            <a:endParaRPr lang="en-US" sz="2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B01F8D-0127-6ADD-32D1-5D35DF0218FE}"/>
              </a:ext>
            </a:extLst>
          </p:cNvPr>
          <p:cNvSpPr txBox="1"/>
          <p:nvPr/>
        </p:nvSpPr>
        <p:spPr>
          <a:xfrm>
            <a:off x="8237120" y="1928695"/>
            <a:ext cx="3854476" cy="2080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Secure and track limits agreed with client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Multimedia options to satisfy any clients wish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HCPs read on &amp; offline, in any browser or in the app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Track every engagement down to each second spend on individual pages</a:t>
            </a:r>
          </a:p>
        </p:txBody>
      </p:sp>
      <p:pic>
        <p:nvPicPr>
          <p:cNvPr id="63" name="Picture 62" descr="A screenshot of a cell phone&#10;&#10;Description automatically generated">
            <a:extLst>
              <a:ext uri="{FF2B5EF4-FFF2-40B4-BE49-F238E27FC236}">
                <a16:creationId xmlns:a16="http://schemas.microsoft.com/office/drawing/2014/main" id="{62F08775-E23C-F372-DB60-67940060FD0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46584" y="562325"/>
            <a:ext cx="2261582" cy="2294759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FE5B5AD9-75B1-6F98-E256-B63777A773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5558" y="230785"/>
            <a:ext cx="32004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472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binar Deck" id="{7A23AA72-971C-E242-B048-39576FC5F3DC}" vid="{A1799C23-9543-3846-A9C6-869377834B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office theme</vt:lpstr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4</cp:revision>
  <dcterms:created xsi:type="dcterms:W3CDTF">2023-10-17T11:31:49Z</dcterms:created>
  <dcterms:modified xsi:type="dcterms:W3CDTF">2023-10-17T11:32:05Z</dcterms:modified>
</cp:coreProperties>
</file>