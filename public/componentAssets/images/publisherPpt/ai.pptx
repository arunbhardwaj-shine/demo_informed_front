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E78072-7C1F-46B4-864C-F0937D11230B}" v="2" dt="2023-10-17T11:42:57.4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1B189316-E95E-ED9E-63CE-8CFAABCFC18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316" y="241548"/>
            <a:ext cx="320040" cy="320040"/>
          </a:xfrm>
          <a:prstGeom prst="rect">
            <a:avLst/>
          </a:prstGeom>
        </p:spPr>
      </p:pic>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AI Prediction Tool</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1169551"/>
          </a:xfrm>
          <a:prstGeom prst="rect">
            <a:avLst/>
          </a:prstGeom>
          <a:noFill/>
        </p:spPr>
        <p:txBody>
          <a:bodyPr wrap="square">
            <a:spAutoFit/>
          </a:bodyPr>
          <a:lstStyle/>
          <a:p>
            <a:pPr algn="ctr">
              <a:lnSpc>
                <a:spcPct val="150000"/>
              </a:lnSpc>
            </a:pPr>
            <a:r>
              <a:rPr lang="en-GB" sz="1200" dirty="0">
                <a:solidFill>
                  <a:srgbClr val="59748A"/>
                </a:solidFill>
                <a:effectLst/>
                <a:latin typeface="Roboto" panose="02000000000000000000" pitchFamily="2" charset="0"/>
                <a:ea typeface="Roboto" panose="02000000000000000000" pitchFamily="2" charset="0"/>
                <a:cs typeface="Roboto" panose="02000000000000000000" pitchFamily="2" charset="0"/>
              </a:rPr>
              <a:t>Our AI leverages your HCP engagement data to formulate personalised predictions for each HCP. This process improves as your interactions with HCPs deepen. Enhanced content recommendations foster stronger relationships and trust, culminating in measurable success through the synergy of intelligence and foresight.</a:t>
            </a:r>
            <a:endParaRPr lang="en-US" sz="1200" dirty="0">
              <a:solidFill>
                <a:srgbClr val="59748A"/>
              </a:solidFill>
              <a:latin typeface="Roboto" panose="02000000000000000000" pitchFamily="2"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effectLst/>
                <a:latin typeface="Roboto" panose="02000000000000000000" pitchFamily="2" charset="0"/>
                <a:ea typeface="Roboto" panose="02000000000000000000" pitchFamily="2" charset="0"/>
                <a:cs typeface="Roboto" panose="02000000000000000000" pitchFamily="2" charset="0"/>
              </a:rPr>
              <a:t>AI Prediction Tool</a:t>
            </a:r>
            <a:endParaRPr lang="en-US" sz="2000" b="1" dirty="0">
              <a:solidFill>
                <a:srgbClr val="0066BE"/>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476465" cy="3721532"/>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effectLst/>
                <a:latin typeface="Roboto" panose="02000000000000000000" pitchFamily="2" charset="0"/>
                <a:ea typeface="Roboto" panose="02000000000000000000" pitchFamily="2" charset="0"/>
                <a:cs typeface="Roboto" panose="02000000000000000000" pitchFamily="2" charset="0"/>
              </a:rPr>
              <a:t>Use approved consent to create individually tailored predictions for each HCP</a:t>
            </a:r>
            <a:endParaRPr lang="en-GB" sz="12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effectLst/>
                <a:latin typeface="Roboto" panose="02000000000000000000" pitchFamily="2" charset="0"/>
                <a:ea typeface="Roboto" panose="02000000000000000000" pitchFamily="2" charset="0"/>
                <a:cs typeface="Roboto" panose="02000000000000000000" pitchFamily="2" charset="0"/>
              </a:rPr>
              <a:t>Improve HCP engagement by providing relevant content you can be sure they’ll love</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effectLst/>
                <a:latin typeface="Roboto" panose="02000000000000000000" pitchFamily="2" charset="0"/>
                <a:ea typeface="Roboto" panose="02000000000000000000" pitchFamily="2" charset="0"/>
                <a:cs typeface="Roboto" panose="02000000000000000000" pitchFamily="2" charset="0"/>
              </a:rPr>
              <a:t>Deliver in a way you know they’ll receive</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effectLst/>
                <a:latin typeface="Roboto" panose="02000000000000000000" pitchFamily="2" charset="0"/>
                <a:ea typeface="Roboto" panose="02000000000000000000" pitchFamily="2" charset="0"/>
                <a:cs typeface="Roboto" panose="02000000000000000000" pitchFamily="2" charset="0"/>
              </a:rPr>
              <a:t>Knowledge is power - The more you know, the more insightful you can be for every HCP</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effectLst/>
                <a:latin typeface="Roboto" panose="02000000000000000000" pitchFamily="2" charset="0"/>
                <a:ea typeface="Roboto" panose="02000000000000000000" pitchFamily="2" charset="0"/>
                <a:cs typeface="Roboto" panose="02000000000000000000" pitchFamily="2" charset="0"/>
              </a:rPr>
              <a:t>Customise how you use your collected data to best serve you</a:t>
            </a:r>
            <a:endParaRPr lang="en-US" sz="12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3" name="Group 22">
            <a:extLst>
              <a:ext uri="{FF2B5EF4-FFF2-40B4-BE49-F238E27FC236}">
                <a16:creationId xmlns:a16="http://schemas.microsoft.com/office/drawing/2014/main" id="{249FF8F4-E1AA-EFB1-5B0F-DD1BB8BE1044}"/>
              </a:ext>
            </a:extLst>
          </p:cNvPr>
          <p:cNvGrpSpPr/>
          <p:nvPr/>
        </p:nvGrpSpPr>
        <p:grpSpPr>
          <a:xfrm>
            <a:off x="4063904" y="5872509"/>
            <a:ext cx="676656" cy="658368"/>
            <a:chOff x="3601278" y="4955825"/>
            <a:chExt cx="676656" cy="658368"/>
          </a:xfrm>
        </p:grpSpPr>
        <p:grpSp>
          <p:nvGrpSpPr>
            <p:cNvPr id="24" name="Group 23">
              <a:extLst>
                <a:ext uri="{FF2B5EF4-FFF2-40B4-BE49-F238E27FC236}">
                  <a16:creationId xmlns:a16="http://schemas.microsoft.com/office/drawing/2014/main" id="{107067EF-D1C9-8EB2-DA12-C5E25757ABF8}"/>
                </a:ext>
              </a:extLst>
            </p:cNvPr>
            <p:cNvGrpSpPr/>
            <p:nvPr/>
          </p:nvGrpSpPr>
          <p:grpSpPr>
            <a:xfrm>
              <a:off x="3615755" y="4955825"/>
              <a:ext cx="658368" cy="658368"/>
              <a:chOff x="2717229" y="4899401"/>
              <a:chExt cx="658368" cy="658368"/>
            </a:xfrm>
          </p:grpSpPr>
          <p:sp>
            <p:nvSpPr>
              <p:cNvPr id="27" name="Oval 26">
                <a:extLst>
                  <a:ext uri="{FF2B5EF4-FFF2-40B4-BE49-F238E27FC236}">
                    <a16:creationId xmlns:a16="http://schemas.microsoft.com/office/drawing/2014/main" id="{EA46935A-657C-D63B-6E4C-FF2A6C8EABC2}"/>
                  </a:ext>
                </a:extLst>
              </p:cNvPr>
              <p:cNvSpPr/>
              <p:nvPr/>
            </p:nvSpPr>
            <p:spPr>
              <a:xfrm>
                <a:off x="2753805" y="4935977"/>
                <a:ext cx="585216" cy="585216"/>
              </a:xfrm>
              <a:prstGeom prst="ellipse">
                <a:avLst/>
              </a:prstGeom>
              <a:solidFill>
                <a:srgbClr val="045FAE"/>
              </a:solidFill>
              <a:ln>
                <a:noFill/>
              </a:ln>
              <a:effectLst>
                <a:outerShdw blurRad="63500" sx="103000" sy="103000" algn="ctr" rotWithShape="0">
                  <a:srgbClr val="045FA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17D2CB96-8409-D57B-3FE0-34093707826A}"/>
                  </a:ext>
                </a:extLst>
              </p:cNvPr>
              <p:cNvSpPr/>
              <p:nvPr/>
            </p:nvSpPr>
            <p:spPr>
              <a:xfrm>
                <a:off x="2717229" y="4899401"/>
                <a:ext cx="658368" cy="658368"/>
              </a:xfrm>
              <a:prstGeom prst="ellipse">
                <a:avLst/>
              </a:prstGeom>
              <a:noFill/>
              <a:ln w="6350">
                <a:solidFill>
                  <a:srgbClr val="045FA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3E5E124B-12BE-E1B0-3197-B9C1D00807C7}"/>
                </a:ext>
              </a:extLst>
            </p:cNvPr>
            <p:cNvSpPr txBox="1"/>
            <p:nvPr/>
          </p:nvSpPr>
          <p:spPr>
            <a:xfrm>
              <a:off x="3601278" y="5267884"/>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inforMedGo</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26" name="Graphic 25">
              <a:extLst>
                <a:ext uri="{FF2B5EF4-FFF2-40B4-BE49-F238E27FC236}">
                  <a16:creationId xmlns:a16="http://schemas.microsoft.com/office/drawing/2014/main" id="{80C60146-3561-2671-3A41-13F9770F8EB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39022" y="5052271"/>
              <a:ext cx="201168" cy="201168"/>
            </a:xfrm>
            <a:prstGeom prst="rect">
              <a:avLst/>
            </a:prstGeom>
          </p:spPr>
        </p:pic>
      </p:grpSp>
      <p:grpSp>
        <p:nvGrpSpPr>
          <p:cNvPr id="29" name="Group 28">
            <a:extLst>
              <a:ext uri="{FF2B5EF4-FFF2-40B4-BE49-F238E27FC236}">
                <a16:creationId xmlns:a16="http://schemas.microsoft.com/office/drawing/2014/main" id="{B3BEF952-D96F-EF01-7CCF-8EA4555E880B}"/>
              </a:ext>
            </a:extLst>
          </p:cNvPr>
          <p:cNvGrpSpPr/>
          <p:nvPr/>
        </p:nvGrpSpPr>
        <p:grpSpPr>
          <a:xfrm>
            <a:off x="5581209" y="5872509"/>
            <a:ext cx="676656" cy="658368"/>
            <a:chOff x="5073337" y="4958505"/>
            <a:chExt cx="676656" cy="658368"/>
          </a:xfrm>
        </p:grpSpPr>
        <p:grpSp>
          <p:nvGrpSpPr>
            <p:cNvPr id="30" name="Group 29">
              <a:extLst>
                <a:ext uri="{FF2B5EF4-FFF2-40B4-BE49-F238E27FC236}">
                  <a16:creationId xmlns:a16="http://schemas.microsoft.com/office/drawing/2014/main" id="{27239465-BF7B-50C6-1628-9C185A4E6D7C}"/>
                </a:ext>
              </a:extLst>
            </p:cNvPr>
            <p:cNvGrpSpPr/>
            <p:nvPr/>
          </p:nvGrpSpPr>
          <p:grpSpPr>
            <a:xfrm>
              <a:off x="5082481" y="4958505"/>
              <a:ext cx="658368" cy="658368"/>
              <a:chOff x="2717229" y="4899401"/>
              <a:chExt cx="658368" cy="658368"/>
            </a:xfrm>
          </p:grpSpPr>
          <p:sp>
            <p:nvSpPr>
              <p:cNvPr id="33" name="Oval 32">
                <a:extLst>
                  <a:ext uri="{FF2B5EF4-FFF2-40B4-BE49-F238E27FC236}">
                    <a16:creationId xmlns:a16="http://schemas.microsoft.com/office/drawing/2014/main" id="{D3C0E614-3239-4556-7FB8-7652B65C3759}"/>
                  </a:ext>
                </a:extLst>
              </p:cNvPr>
              <p:cNvSpPr/>
              <p:nvPr/>
            </p:nvSpPr>
            <p:spPr>
              <a:xfrm>
                <a:off x="2753805" y="4935977"/>
                <a:ext cx="585216" cy="585216"/>
              </a:xfrm>
              <a:prstGeom prst="ellipse">
                <a:avLst/>
              </a:prstGeom>
              <a:solidFill>
                <a:srgbClr val="00D4C0"/>
              </a:solidFill>
              <a:ln>
                <a:noFill/>
              </a:ln>
              <a:effectLst>
                <a:outerShdw blurRad="63500" sx="103000" sy="103000" algn="ctr" rotWithShape="0">
                  <a:srgbClr val="00D4C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EAEE0361-07DF-8904-DED1-A3BD4E429A52}"/>
                  </a:ext>
                </a:extLst>
              </p:cNvPr>
              <p:cNvSpPr/>
              <p:nvPr/>
            </p:nvSpPr>
            <p:spPr>
              <a:xfrm>
                <a:off x="2717229" y="4899401"/>
                <a:ext cx="658368" cy="658368"/>
              </a:xfrm>
              <a:prstGeom prst="ellipse">
                <a:avLst/>
              </a:prstGeom>
              <a:noFill/>
              <a:ln w="6350">
                <a:solidFill>
                  <a:srgbClr val="00D4C0"/>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EC87BEB5-2FA8-6A0A-F6A1-69DA095A330B}"/>
                </a:ext>
              </a:extLst>
            </p:cNvPr>
            <p:cNvSpPr txBox="1"/>
            <p:nvPr/>
          </p:nvSpPr>
          <p:spPr>
            <a:xfrm>
              <a:off x="5073337" y="5259201"/>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Automail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2" name="Graphic 31">
              <a:extLst>
                <a:ext uri="{FF2B5EF4-FFF2-40B4-BE49-F238E27FC236}">
                  <a16:creationId xmlns:a16="http://schemas.microsoft.com/office/drawing/2014/main" id="{C09F8B03-89C1-41CC-279B-9BC43D6143B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11081" y="5039745"/>
              <a:ext cx="201168" cy="201168"/>
            </a:xfrm>
            <a:prstGeom prst="rect">
              <a:avLst/>
            </a:prstGeom>
          </p:spPr>
        </p:pic>
      </p:grpSp>
      <p:grpSp>
        <p:nvGrpSpPr>
          <p:cNvPr id="35" name="Group 34">
            <a:extLst>
              <a:ext uri="{FF2B5EF4-FFF2-40B4-BE49-F238E27FC236}">
                <a16:creationId xmlns:a16="http://schemas.microsoft.com/office/drawing/2014/main" id="{C90DE62A-22CC-C20D-180A-88D1B5A58876}"/>
              </a:ext>
            </a:extLst>
          </p:cNvPr>
          <p:cNvGrpSpPr/>
          <p:nvPr/>
        </p:nvGrpSpPr>
        <p:grpSpPr>
          <a:xfrm>
            <a:off x="4822557" y="5872509"/>
            <a:ext cx="676656" cy="658368"/>
            <a:chOff x="4328355" y="4958505"/>
            <a:chExt cx="676656" cy="658368"/>
          </a:xfrm>
        </p:grpSpPr>
        <p:grpSp>
          <p:nvGrpSpPr>
            <p:cNvPr id="36" name="Group 35">
              <a:extLst>
                <a:ext uri="{FF2B5EF4-FFF2-40B4-BE49-F238E27FC236}">
                  <a16:creationId xmlns:a16="http://schemas.microsoft.com/office/drawing/2014/main" id="{8BA3B4F5-BA5B-DDBA-098D-CFBB5527DA2C}"/>
                </a:ext>
              </a:extLst>
            </p:cNvPr>
            <p:cNvGrpSpPr/>
            <p:nvPr/>
          </p:nvGrpSpPr>
          <p:grpSpPr>
            <a:xfrm>
              <a:off x="4342958" y="4958505"/>
              <a:ext cx="658368" cy="658368"/>
              <a:chOff x="2717229" y="4899401"/>
              <a:chExt cx="658368" cy="658368"/>
            </a:xfrm>
          </p:grpSpPr>
          <p:sp>
            <p:nvSpPr>
              <p:cNvPr id="39" name="Oval 38">
                <a:extLst>
                  <a:ext uri="{FF2B5EF4-FFF2-40B4-BE49-F238E27FC236}">
                    <a16:creationId xmlns:a16="http://schemas.microsoft.com/office/drawing/2014/main" id="{D48B9D0D-3737-7D04-A951-9049ACB174B9}"/>
                  </a:ext>
                </a:extLst>
              </p:cNvPr>
              <p:cNvSpPr/>
              <p:nvPr/>
            </p:nvSpPr>
            <p:spPr>
              <a:xfrm>
                <a:off x="2753805" y="4935977"/>
                <a:ext cx="585216" cy="585216"/>
              </a:xfrm>
              <a:prstGeom prst="ellipse">
                <a:avLst/>
              </a:prstGeom>
              <a:solidFill>
                <a:srgbClr val="00A4BF"/>
              </a:solidFill>
              <a:ln>
                <a:noFill/>
              </a:ln>
              <a:effectLst>
                <a:outerShdw blurRad="63500" sx="103000" sy="103000" algn="ctr" rotWithShape="0">
                  <a:srgbClr val="00A4BF"/>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AFF903B2-7884-9F7D-B161-9F3897C6CD37}"/>
                  </a:ext>
                </a:extLst>
              </p:cNvPr>
              <p:cNvSpPr/>
              <p:nvPr/>
            </p:nvSpPr>
            <p:spPr>
              <a:xfrm>
                <a:off x="2717229" y="4899401"/>
                <a:ext cx="658368" cy="658368"/>
              </a:xfrm>
              <a:prstGeom prst="ellipse">
                <a:avLst/>
              </a:prstGeom>
              <a:noFill/>
              <a:ln w="6350">
                <a:solidFill>
                  <a:srgbClr val="00A4BF"/>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20D04ABD-BEB4-6CB5-19D0-2441566C88C1}"/>
                </a:ext>
              </a:extLst>
            </p:cNvPr>
            <p:cNvSpPr txBox="1"/>
            <p:nvPr/>
          </p:nvSpPr>
          <p:spPr>
            <a:xfrm>
              <a:off x="4328355" y="5257564"/>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Consent</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8" name="Graphic 37">
              <a:extLst>
                <a:ext uri="{FF2B5EF4-FFF2-40B4-BE49-F238E27FC236}">
                  <a16:creationId xmlns:a16="http://schemas.microsoft.com/office/drawing/2014/main" id="{0C70865A-FFEE-4B00-2E55-BC72DA36B4A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77718" y="5052271"/>
              <a:ext cx="201168" cy="201168"/>
            </a:xfrm>
            <a:prstGeom prst="rect">
              <a:avLst/>
            </a:prstGeom>
          </p:spPr>
        </p:pic>
      </p:grpSp>
      <p:grpSp>
        <p:nvGrpSpPr>
          <p:cNvPr id="41" name="Group 40">
            <a:extLst>
              <a:ext uri="{FF2B5EF4-FFF2-40B4-BE49-F238E27FC236}">
                <a16:creationId xmlns:a16="http://schemas.microsoft.com/office/drawing/2014/main" id="{1781DC61-D201-75BE-3A1A-AF9ADBC38AFE}"/>
              </a:ext>
            </a:extLst>
          </p:cNvPr>
          <p:cNvGrpSpPr/>
          <p:nvPr/>
        </p:nvGrpSpPr>
        <p:grpSpPr>
          <a:xfrm>
            <a:off x="3305251" y="5872509"/>
            <a:ext cx="676656" cy="658368"/>
            <a:chOff x="3081391" y="3371266"/>
            <a:chExt cx="676656" cy="658368"/>
          </a:xfrm>
        </p:grpSpPr>
        <p:grpSp>
          <p:nvGrpSpPr>
            <p:cNvPr id="42" name="Group 41">
              <a:extLst>
                <a:ext uri="{FF2B5EF4-FFF2-40B4-BE49-F238E27FC236}">
                  <a16:creationId xmlns:a16="http://schemas.microsoft.com/office/drawing/2014/main" id="{A087C5A4-8FF3-1A5A-EF5A-E1B2D370DD18}"/>
                </a:ext>
              </a:extLst>
            </p:cNvPr>
            <p:cNvGrpSpPr/>
            <p:nvPr/>
          </p:nvGrpSpPr>
          <p:grpSpPr>
            <a:xfrm>
              <a:off x="3090535" y="3371266"/>
              <a:ext cx="658368" cy="658368"/>
              <a:chOff x="2717229" y="4899401"/>
              <a:chExt cx="658368" cy="658368"/>
            </a:xfrm>
          </p:grpSpPr>
          <p:sp>
            <p:nvSpPr>
              <p:cNvPr id="45" name="Oval 44">
                <a:extLst>
                  <a:ext uri="{FF2B5EF4-FFF2-40B4-BE49-F238E27FC236}">
                    <a16:creationId xmlns:a16="http://schemas.microsoft.com/office/drawing/2014/main" id="{53CB58D9-A56A-33D4-BDA1-B82F7767D8A5}"/>
                  </a:ext>
                </a:extLst>
              </p:cNvPr>
              <p:cNvSpPr/>
              <p:nvPr/>
            </p:nvSpPr>
            <p:spPr>
              <a:xfrm>
                <a:off x="2753805" y="4935977"/>
                <a:ext cx="585216" cy="585216"/>
              </a:xfrm>
              <a:prstGeom prst="ellipse">
                <a:avLst/>
              </a:prstGeom>
              <a:solidFill>
                <a:srgbClr val="8A4E9C"/>
              </a:solidFill>
              <a:ln>
                <a:noFill/>
              </a:ln>
              <a:effectLst>
                <a:outerShdw blurRad="63500" sx="103000" sy="103000" algn="ctr" rotWithShape="0">
                  <a:srgbClr val="8A4E9C"/>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E0D29595-E598-4FAF-D80E-9E5E379908A6}"/>
                  </a:ext>
                </a:extLst>
              </p:cNvPr>
              <p:cNvSpPr/>
              <p:nvPr/>
            </p:nvSpPr>
            <p:spPr>
              <a:xfrm>
                <a:off x="2717229" y="4899401"/>
                <a:ext cx="658368" cy="658368"/>
              </a:xfrm>
              <a:prstGeom prst="ellipse">
                <a:avLst/>
              </a:prstGeom>
              <a:noFill/>
              <a:ln w="6350">
                <a:solidFill>
                  <a:srgbClr val="8A4E9C"/>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3" name="TextBox 42">
              <a:extLst>
                <a:ext uri="{FF2B5EF4-FFF2-40B4-BE49-F238E27FC236}">
                  <a16:creationId xmlns:a16="http://schemas.microsoft.com/office/drawing/2014/main" id="{E39137B0-6E4B-9AC8-FC90-41395BE67EB5}"/>
                </a:ext>
              </a:extLst>
            </p:cNvPr>
            <p:cNvSpPr txBox="1"/>
            <p:nvPr/>
          </p:nvSpPr>
          <p:spPr>
            <a:xfrm>
              <a:off x="3081391" y="3671962"/>
              <a:ext cx="676656" cy="276999"/>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Webinar Portal</a:t>
              </a:r>
            </a:p>
          </p:txBody>
        </p:sp>
        <p:pic>
          <p:nvPicPr>
            <p:cNvPr id="44" name="Graphic 43">
              <a:extLst>
                <a:ext uri="{FF2B5EF4-FFF2-40B4-BE49-F238E27FC236}">
                  <a16:creationId xmlns:a16="http://schemas.microsoft.com/office/drawing/2014/main" id="{24C09701-DF14-E39E-7E75-19961C2D933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319135" y="3484929"/>
              <a:ext cx="201168" cy="201168"/>
            </a:xfrm>
            <a:prstGeom prst="rect">
              <a:avLst/>
            </a:prstGeom>
          </p:spPr>
        </p:pic>
      </p:grpSp>
      <p:grpSp>
        <p:nvGrpSpPr>
          <p:cNvPr id="47" name="Group 46">
            <a:extLst>
              <a:ext uri="{FF2B5EF4-FFF2-40B4-BE49-F238E27FC236}">
                <a16:creationId xmlns:a16="http://schemas.microsoft.com/office/drawing/2014/main" id="{25696D85-3C51-7CE3-CB7B-1C3D6062668E}"/>
              </a:ext>
            </a:extLst>
          </p:cNvPr>
          <p:cNvGrpSpPr/>
          <p:nvPr/>
        </p:nvGrpSpPr>
        <p:grpSpPr>
          <a:xfrm>
            <a:off x="2546598" y="5872509"/>
            <a:ext cx="676656" cy="658368"/>
            <a:chOff x="2144967" y="4958505"/>
            <a:chExt cx="676656" cy="658368"/>
          </a:xfrm>
        </p:grpSpPr>
        <p:grpSp>
          <p:nvGrpSpPr>
            <p:cNvPr id="48" name="Group 47">
              <a:extLst>
                <a:ext uri="{FF2B5EF4-FFF2-40B4-BE49-F238E27FC236}">
                  <a16:creationId xmlns:a16="http://schemas.microsoft.com/office/drawing/2014/main" id="{D7B1E346-FD95-B4A0-A8CF-E7BEB1613792}"/>
                </a:ext>
              </a:extLst>
            </p:cNvPr>
            <p:cNvGrpSpPr/>
            <p:nvPr/>
          </p:nvGrpSpPr>
          <p:grpSpPr>
            <a:xfrm>
              <a:off x="2154111" y="4958505"/>
              <a:ext cx="658368" cy="658368"/>
              <a:chOff x="2717229" y="4899401"/>
              <a:chExt cx="658368" cy="658368"/>
            </a:xfrm>
          </p:grpSpPr>
          <p:sp>
            <p:nvSpPr>
              <p:cNvPr id="51" name="Oval 50">
                <a:extLst>
                  <a:ext uri="{FF2B5EF4-FFF2-40B4-BE49-F238E27FC236}">
                    <a16:creationId xmlns:a16="http://schemas.microsoft.com/office/drawing/2014/main" id="{12887E59-AA6C-8F77-0430-0BB613A8AAF5}"/>
                  </a:ext>
                </a:extLst>
              </p:cNvPr>
              <p:cNvSpPr/>
              <p:nvPr/>
            </p:nvSpPr>
            <p:spPr>
              <a:xfrm>
                <a:off x="2753805" y="4935977"/>
                <a:ext cx="585216" cy="585216"/>
              </a:xfrm>
              <a:prstGeom prst="ellipse">
                <a:avLst/>
              </a:prstGeom>
              <a:solidFill>
                <a:srgbClr val="5A6BB5"/>
              </a:solidFill>
              <a:ln>
                <a:noFill/>
              </a:ln>
              <a:effectLst>
                <a:outerShdw blurRad="63500" sx="103000" sy="103000" algn="ctr" rotWithShape="0">
                  <a:srgbClr val="5A6BB5"/>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5E78D482-3E19-04BA-9F71-E38064706395}"/>
                  </a:ext>
                </a:extLst>
              </p:cNvPr>
              <p:cNvSpPr/>
              <p:nvPr/>
            </p:nvSpPr>
            <p:spPr>
              <a:xfrm>
                <a:off x="2717229" y="4899401"/>
                <a:ext cx="658368" cy="658368"/>
              </a:xfrm>
              <a:prstGeom prst="ellipse">
                <a:avLst/>
              </a:prstGeom>
              <a:noFill/>
              <a:ln w="6350">
                <a:solidFill>
                  <a:srgbClr val="5A6BB5"/>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TextBox 48">
              <a:extLst>
                <a:ext uri="{FF2B5EF4-FFF2-40B4-BE49-F238E27FC236}">
                  <a16:creationId xmlns:a16="http://schemas.microsoft.com/office/drawing/2014/main" id="{98519E5C-938C-92B9-0C81-E7A8D1B816B0}"/>
                </a:ext>
              </a:extLst>
            </p:cNvPr>
            <p:cNvSpPr txBox="1"/>
            <p:nvPr/>
          </p:nvSpPr>
          <p:spPr>
            <a:xfrm>
              <a:off x="2144967" y="5285009"/>
              <a:ext cx="676656" cy="276999"/>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Read-Through</a:t>
              </a:r>
            </a:p>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-Rate</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50" name="Graphic 49">
              <a:extLst>
                <a:ext uri="{FF2B5EF4-FFF2-40B4-BE49-F238E27FC236}">
                  <a16:creationId xmlns:a16="http://schemas.microsoft.com/office/drawing/2014/main" id="{45B09C2B-5347-8D70-7D2C-B3BF6A4E78D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8995" y="5059089"/>
              <a:ext cx="228600" cy="228600"/>
            </a:xfrm>
            <a:prstGeom prst="rect">
              <a:avLst/>
            </a:prstGeom>
          </p:spPr>
        </p:pic>
      </p:grpSp>
      <p:pic>
        <p:nvPicPr>
          <p:cNvPr id="54" name="Picture 53" descr="A blue circle with a circuit board in the center&#10;&#10;Description automatically generated">
            <a:extLst>
              <a:ext uri="{FF2B5EF4-FFF2-40B4-BE49-F238E27FC236}">
                <a16:creationId xmlns:a16="http://schemas.microsoft.com/office/drawing/2014/main" id="{E6C6EAFD-1088-E74C-A02B-B8162C1DB74B}"/>
              </a:ext>
            </a:extLst>
          </p:cNvPr>
          <p:cNvPicPr>
            <a:picLocks noChangeAspect="1"/>
          </p:cNvPicPr>
          <p:nvPr/>
        </p:nvPicPr>
        <p:blipFill>
          <a:blip r:embed="rId15"/>
          <a:stretch>
            <a:fillRect/>
          </a:stretch>
        </p:blipFill>
        <p:spPr>
          <a:xfrm>
            <a:off x="1593038" y="1302699"/>
            <a:ext cx="4271635" cy="1469542"/>
          </a:xfrm>
          <a:prstGeom prst="rect">
            <a:avLst/>
          </a:prstGeom>
        </p:spPr>
      </p:pic>
    </p:spTree>
    <p:extLst>
      <p:ext uri="{BB962C8B-B14F-4D97-AF65-F5344CB8AC3E}">
        <p14:creationId xmlns:p14="http://schemas.microsoft.com/office/powerpoint/2010/main" val="38649769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4</cp:revision>
  <dcterms:created xsi:type="dcterms:W3CDTF">2023-10-17T11:42:48Z</dcterms:created>
  <dcterms:modified xsi:type="dcterms:W3CDTF">2023-10-17T11:43:07Z</dcterms:modified>
</cp:coreProperties>
</file>