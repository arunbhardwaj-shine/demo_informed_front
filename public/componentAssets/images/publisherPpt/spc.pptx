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19D5FA-F20C-414E-B158-40154DD5C2AA}" v="3" dt="2023-10-17T11:47:55.2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20899AFE-56AA-2487-DB11-684C8E453FB2}"/>
              </a:ext>
            </a:extLst>
          </p:cNvPr>
          <p:cNvGrpSpPr/>
          <p:nvPr/>
        </p:nvGrpSpPr>
        <p:grpSpPr>
          <a:xfrm>
            <a:off x="2557295" y="5828895"/>
            <a:ext cx="676656" cy="658368"/>
            <a:chOff x="3601278" y="4955825"/>
            <a:chExt cx="676656" cy="658368"/>
          </a:xfrm>
        </p:grpSpPr>
        <p:grpSp>
          <p:nvGrpSpPr>
            <p:cNvPr id="25" name="Group 24">
              <a:extLst>
                <a:ext uri="{FF2B5EF4-FFF2-40B4-BE49-F238E27FC236}">
                  <a16:creationId xmlns:a16="http://schemas.microsoft.com/office/drawing/2014/main" id="{DC813A25-71A9-4C20-249F-45517CE3DC1C}"/>
                </a:ext>
              </a:extLst>
            </p:cNvPr>
            <p:cNvGrpSpPr/>
            <p:nvPr/>
          </p:nvGrpSpPr>
          <p:grpSpPr>
            <a:xfrm>
              <a:off x="3615755" y="4955825"/>
              <a:ext cx="658368" cy="658368"/>
              <a:chOff x="2717229" y="4899401"/>
              <a:chExt cx="658368" cy="658368"/>
            </a:xfrm>
          </p:grpSpPr>
          <p:sp>
            <p:nvSpPr>
              <p:cNvPr id="28" name="Oval 27">
                <a:extLst>
                  <a:ext uri="{FF2B5EF4-FFF2-40B4-BE49-F238E27FC236}">
                    <a16:creationId xmlns:a16="http://schemas.microsoft.com/office/drawing/2014/main" id="{715355EF-3384-FF83-C7FF-65F635D98888}"/>
                  </a:ext>
                </a:extLst>
              </p:cNvPr>
              <p:cNvSpPr/>
              <p:nvPr/>
            </p:nvSpPr>
            <p:spPr>
              <a:xfrm>
                <a:off x="2753805" y="4935977"/>
                <a:ext cx="585216" cy="585216"/>
              </a:xfrm>
              <a:prstGeom prst="ellipse">
                <a:avLst/>
              </a:prstGeom>
              <a:solidFill>
                <a:srgbClr val="045FAE"/>
              </a:solidFill>
              <a:ln>
                <a:noFill/>
              </a:ln>
              <a:effectLst>
                <a:outerShdw blurRad="63500" sx="103000" sy="103000" algn="ctr" rotWithShape="0">
                  <a:srgbClr val="045FA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B92017D5-FD2F-43B3-0C65-6BB34F5D7493}"/>
                  </a:ext>
                </a:extLst>
              </p:cNvPr>
              <p:cNvSpPr/>
              <p:nvPr/>
            </p:nvSpPr>
            <p:spPr>
              <a:xfrm>
                <a:off x="2717229" y="4899401"/>
                <a:ext cx="658368" cy="658368"/>
              </a:xfrm>
              <a:prstGeom prst="ellipse">
                <a:avLst/>
              </a:prstGeom>
              <a:noFill/>
              <a:ln w="6350">
                <a:solidFill>
                  <a:srgbClr val="045FA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E5C94D0F-6893-C671-454B-E2E2F9B65C55}"/>
                </a:ext>
              </a:extLst>
            </p:cNvPr>
            <p:cNvSpPr txBox="1"/>
            <p:nvPr/>
          </p:nvSpPr>
          <p:spPr>
            <a:xfrm>
              <a:off x="3601278" y="5267884"/>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inforMedGo</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27" name="Graphic 26">
              <a:extLst>
                <a:ext uri="{FF2B5EF4-FFF2-40B4-BE49-F238E27FC236}">
                  <a16:creationId xmlns:a16="http://schemas.microsoft.com/office/drawing/2014/main" id="{1E8E8BED-92A1-CBC4-0272-4A851BACA8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39022" y="5052271"/>
              <a:ext cx="201168" cy="201168"/>
            </a:xfrm>
            <a:prstGeom prst="rect">
              <a:avLst/>
            </a:prstGeom>
          </p:spPr>
        </p:pic>
      </p:grpSp>
      <p:grpSp>
        <p:nvGrpSpPr>
          <p:cNvPr id="30" name="Group 29">
            <a:extLst>
              <a:ext uri="{FF2B5EF4-FFF2-40B4-BE49-F238E27FC236}">
                <a16:creationId xmlns:a16="http://schemas.microsoft.com/office/drawing/2014/main" id="{5BC37A84-AF53-F30D-0AB5-A15C455CEDAE}"/>
              </a:ext>
            </a:extLst>
          </p:cNvPr>
          <p:cNvGrpSpPr/>
          <p:nvPr/>
        </p:nvGrpSpPr>
        <p:grpSpPr>
          <a:xfrm>
            <a:off x="4851947" y="5828895"/>
            <a:ext cx="676656" cy="658368"/>
            <a:chOff x="5073337" y="4958505"/>
            <a:chExt cx="676656" cy="658368"/>
          </a:xfrm>
        </p:grpSpPr>
        <p:grpSp>
          <p:nvGrpSpPr>
            <p:cNvPr id="31" name="Group 30">
              <a:extLst>
                <a:ext uri="{FF2B5EF4-FFF2-40B4-BE49-F238E27FC236}">
                  <a16:creationId xmlns:a16="http://schemas.microsoft.com/office/drawing/2014/main" id="{D21CC96C-7848-57AF-F8C8-22A0ABBDACD2}"/>
                </a:ext>
              </a:extLst>
            </p:cNvPr>
            <p:cNvGrpSpPr/>
            <p:nvPr/>
          </p:nvGrpSpPr>
          <p:grpSpPr>
            <a:xfrm>
              <a:off x="5082481" y="4958505"/>
              <a:ext cx="658368" cy="658368"/>
              <a:chOff x="2717229" y="4899401"/>
              <a:chExt cx="658368" cy="658368"/>
            </a:xfrm>
          </p:grpSpPr>
          <p:sp>
            <p:nvSpPr>
              <p:cNvPr id="34" name="Oval 33">
                <a:extLst>
                  <a:ext uri="{FF2B5EF4-FFF2-40B4-BE49-F238E27FC236}">
                    <a16:creationId xmlns:a16="http://schemas.microsoft.com/office/drawing/2014/main" id="{EECEB2EC-6F1F-6360-DBD5-0ECCCF7A1B4A}"/>
                  </a:ext>
                </a:extLst>
              </p:cNvPr>
              <p:cNvSpPr/>
              <p:nvPr/>
            </p:nvSpPr>
            <p:spPr>
              <a:xfrm>
                <a:off x="2753805" y="4935977"/>
                <a:ext cx="585216" cy="585216"/>
              </a:xfrm>
              <a:prstGeom prst="ellipse">
                <a:avLst/>
              </a:prstGeom>
              <a:solidFill>
                <a:srgbClr val="00D4C0"/>
              </a:solidFill>
              <a:ln>
                <a:noFill/>
              </a:ln>
              <a:effectLst>
                <a:outerShdw blurRad="63500" sx="103000" sy="103000" algn="ctr" rotWithShape="0">
                  <a:srgbClr val="00D4C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F8AD0538-BA6E-9F95-C553-952293F4E254}"/>
                  </a:ext>
                </a:extLst>
              </p:cNvPr>
              <p:cNvSpPr/>
              <p:nvPr/>
            </p:nvSpPr>
            <p:spPr>
              <a:xfrm>
                <a:off x="2717229" y="4899401"/>
                <a:ext cx="658368" cy="658368"/>
              </a:xfrm>
              <a:prstGeom prst="ellipse">
                <a:avLst/>
              </a:prstGeom>
              <a:noFill/>
              <a:ln w="6350">
                <a:solidFill>
                  <a:srgbClr val="00D4C0"/>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05FB0A24-7604-A457-0D46-9D78C8C71787}"/>
                </a:ext>
              </a:extLst>
            </p:cNvPr>
            <p:cNvSpPr txBox="1"/>
            <p:nvPr/>
          </p:nvSpPr>
          <p:spPr>
            <a:xfrm>
              <a:off x="5073337" y="5259201"/>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Automail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3" name="Graphic 32">
              <a:extLst>
                <a:ext uri="{FF2B5EF4-FFF2-40B4-BE49-F238E27FC236}">
                  <a16:creationId xmlns:a16="http://schemas.microsoft.com/office/drawing/2014/main" id="{7B8944DE-C5B7-795E-0727-E8473794BF1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11081" y="5039745"/>
              <a:ext cx="201168" cy="201168"/>
            </a:xfrm>
            <a:prstGeom prst="rect">
              <a:avLst/>
            </a:prstGeom>
          </p:spPr>
        </p:pic>
      </p:grpSp>
      <p:grpSp>
        <p:nvGrpSpPr>
          <p:cNvPr id="36" name="Group 35">
            <a:extLst>
              <a:ext uri="{FF2B5EF4-FFF2-40B4-BE49-F238E27FC236}">
                <a16:creationId xmlns:a16="http://schemas.microsoft.com/office/drawing/2014/main" id="{C068C21C-C119-2072-7D5F-D150A752C2A5}"/>
              </a:ext>
            </a:extLst>
          </p:cNvPr>
          <p:cNvGrpSpPr/>
          <p:nvPr/>
        </p:nvGrpSpPr>
        <p:grpSpPr>
          <a:xfrm>
            <a:off x="4069607" y="5828895"/>
            <a:ext cx="676656" cy="658368"/>
            <a:chOff x="6635992" y="3386235"/>
            <a:chExt cx="676656" cy="658368"/>
          </a:xfrm>
        </p:grpSpPr>
        <p:grpSp>
          <p:nvGrpSpPr>
            <p:cNvPr id="37" name="Group 36">
              <a:extLst>
                <a:ext uri="{FF2B5EF4-FFF2-40B4-BE49-F238E27FC236}">
                  <a16:creationId xmlns:a16="http://schemas.microsoft.com/office/drawing/2014/main" id="{4831B770-FA31-E93E-58E3-73C6BC0FCA01}"/>
                </a:ext>
              </a:extLst>
            </p:cNvPr>
            <p:cNvGrpSpPr/>
            <p:nvPr/>
          </p:nvGrpSpPr>
          <p:grpSpPr>
            <a:xfrm>
              <a:off x="6645136" y="3386235"/>
              <a:ext cx="658368" cy="658368"/>
              <a:chOff x="2717229" y="4899401"/>
              <a:chExt cx="658368" cy="658368"/>
            </a:xfrm>
          </p:grpSpPr>
          <p:sp>
            <p:nvSpPr>
              <p:cNvPr id="40" name="Oval 39">
                <a:extLst>
                  <a:ext uri="{FF2B5EF4-FFF2-40B4-BE49-F238E27FC236}">
                    <a16:creationId xmlns:a16="http://schemas.microsoft.com/office/drawing/2014/main" id="{6C11A993-BBBC-4E5C-CB19-D2C6506FB2D6}"/>
                  </a:ext>
                </a:extLst>
              </p:cNvPr>
              <p:cNvSpPr/>
              <p:nvPr/>
            </p:nvSpPr>
            <p:spPr>
              <a:xfrm>
                <a:off x="2753805" y="4935977"/>
                <a:ext cx="585216" cy="585216"/>
              </a:xfrm>
              <a:prstGeom prst="ellipse">
                <a:avLst/>
              </a:prstGeom>
              <a:solidFill>
                <a:srgbClr val="0084BE"/>
              </a:solidFill>
              <a:ln>
                <a:noFill/>
              </a:ln>
              <a:effectLst>
                <a:outerShdw blurRad="63500" sx="103000" sy="103000" algn="ctr" rotWithShape="0">
                  <a:srgbClr val="0084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8F5E3504-FBF9-BED8-1735-40DCD533CCFD}"/>
                  </a:ext>
                </a:extLst>
              </p:cNvPr>
              <p:cNvSpPr/>
              <p:nvPr/>
            </p:nvSpPr>
            <p:spPr>
              <a:xfrm>
                <a:off x="2717229" y="4899401"/>
                <a:ext cx="658368" cy="658368"/>
              </a:xfrm>
              <a:prstGeom prst="ellipse">
                <a:avLst/>
              </a:prstGeom>
              <a:noFill/>
              <a:ln w="6350">
                <a:solidFill>
                  <a:srgbClr val="0084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8" name="TextBox 37">
              <a:extLst>
                <a:ext uri="{FF2B5EF4-FFF2-40B4-BE49-F238E27FC236}">
                  <a16:creationId xmlns:a16="http://schemas.microsoft.com/office/drawing/2014/main" id="{83E8E122-F8E0-C8C0-CB29-541300B9EC4D}"/>
                </a:ext>
              </a:extLst>
            </p:cNvPr>
            <p:cNvSpPr txBox="1"/>
            <p:nvPr/>
          </p:nvSpPr>
          <p:spPr>
            <a:xfrm>
              <a:off x="6635992" y="3686931"/>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Email Engine</a:t>
              </a:r>
            </a:p>
          </p:txBody>
        </p:sp>
        <p:pic>
          <p:nvPicPr>
            <p:cNvPr id="39" name="Graphic 38">
              <a:extLst>
                <a:ext uri="{FF2B5EF4-FFF2-40B4-BE49-F238E27FC236}">
                  <a16:creationId xmlns:a16="http://schemas.microsoft.com/office/drawing/2014/main" id="{81E54F7D-801F-1F49-EBF8-AA70EA88276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73145" y="3466746"/>
              <a:ext cx="194231" cy="201168"/>
            </a:xfrm>
            <a:prstGeom prst="rect">
              <a:avLst/>
            </a:prstGeom>
          </p:spPr>
        </p:pic>
      </p:grpSp>
      <p:grpSp>
        <p:nvGrpSpPr>
          <p:cNvPr id="42" name="Group 41">
            <a:extLst>
              <a:ext uri="{FF2B5EF4-FFF2-40B4-BE49-F238E27FC236}">
                <a16:creationId xmlns:a16="http://schemas.microsoft.com/office/drawing/2014/main" id="{FCF1959B-29C0-88EC-9D62-7DB2BC9D8A86}"/>
              </a:ext>
            </a:extLst>
          </p:cNvPr>
          <p:cNvGrpSpPr/>
          <p:nvPr/>
        </p:nvGrpSpPr>
        <p:grpSpPr>
          <a:xfrm>
            <a:off x="3313451" y="5828895"/>
            <a:ext cx="676656" cy="658368"/>
            <a:chOff x="5926723" y="3391583"/>
            <a:chExt cx="676656" cy="658368"/>
          </a:xfrm>
        </p:grpSpPr>
        <p:grpSp>
          <p:nvGrpSpPr>
            <p:cNvPr id="43" name="Group 42">
              <a:extLst>
                <a:ext uri="{FF2B5EF4-FFF2-40B4-BE49-F238E27FC236}">
                  <a16:creationId xmlns:a16="http://schemas.microsoft.com/office/drawing/2014/main" id="{000B89AD-5D6D-3A72-1AF9-0089F312757E}"/>
                </a:ext>
              </a:extLst>
            </p:cNvPr>
            <p:cNvGrpSpPr/>
            <p:nvPr/>
          </p:nvGrpSpPr>
          <p:grpSpPr>
            <a:xfrm>
              <a:off x="5935867" y="3391583"/>
              <a:ext cx="658368" cy="658368"/>
              <a:chOff x="2717229" y="4899401"/>
              <a:chExt cx="658368" cy="658368"/>
            </a:xfrm>
          </p:grpSpPr>
          <p:sp>
            <p:nvSpPr>
              <p:cNvPr id="46" name="Oval 45">
                <a:extLst>
                  <a:ext uri="{FF2B5EF4-FFF2-40B4-BE49-F238E27FC236}">
                    <a16:creationId xmlns:a16="http://schemas.microsoft.com/office/drawing/2014/main" id="{D4F53F15-9CED-A8C7-DCA3-5BB9A544C3A4}"/>
                  </a:ext>
                </a:extLst>
              </p:cNvPr>
              <p:cNvSpPr/>
              <p:nvPr/>
            </p:nvSpPr>
            <p:spPr>
              <a:xfrm>
                <a:off x="2753805" y="4935977"/>
                <a:ext cx="585216" cy="585216"/>
              </a:xfrm>
              <a:prstGeom prst="ellipse">
                <a:avLst/>
              </a:prstGeom>
              <a:solidFill>
                <a:srgbClr val="0066BE"/>
              </a:solidFill>
              <a:ln>
                <a:noFill/>
              </a:ln>
              <a:effectLst>
                <a:outerShdw blurRad="63500" sx="103000" sy="103000" algn="ctr" rotWithShape="0">
                  <a:srgbClr val="0066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26002F96-55CB-8872-BDFA-206614C4096F}"/>
                  </a:ext>
                </a:extLst>
              </p:cNvPr>
              <p:cNvSpPr/>
              <p:nvPr/>
            </p:nvSpPr>
            <p:spPr>
              <a:xfrm>
                <a:off x="2717229" y="4899401"/>
                <a:ext cx="658368" cy="658368"/>
              </a:xfrm>
              <a:prstGeom prst="ellipse">
                <a:avLst/>
              </a:prstGeom>
              <a:noFill/>
              <a:ln w="6350">
                <a:solidFill>
                  <a:srgbClr val="0066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4" name="TextBox 43">
              <a:extLst>
                <a:ext uri="{FF2B5EF4-FFF2-40B4-BE49-F238E27FC236}">
                  <a16:creationId xmlns:a16="http://schemas.microsoft.com/office/drawing/2014/main" id="{89231276-0F3F-B2DC-BB9A-E0D05D03FD38}"/>
                </a:ext>
              </a:extLst>
            </p:cNvPr>
            <p:cNvSpPr txBox="1"/>
            <p:nvPr/>
          </p:nvSpPr>
          <p:spPr>
            <a:xfrm>
              <a:off x="5926723" y="3692279"/>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Docintel.app</a:t>
              </a:r>
            </a:p>
          </p:txBody>
        </p:sp>
        <p:pic>
          <p:nvPicPr>
            <p:cNvPr id="45" name="Graphic 44">
              <a:extLst>
                <a:ext uri="{FF2B5EF4-FFF2-40B4-BE49-F238E27FC236}">
                  <a16:creationId xmlns:a16="http://schemas.microsoft.com/office/drawing/2014/main" id="{1591D5F4-22ED-0C45-2B89-8E11E92BABF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64467" y="3475271"/>
              <a:ext cx="201168" cy="201168"/>
            </a:xfrm>
            <a:prstGeom prst="rect">
              <a:avLst/>
            </a:prstGeom>
          </p:spPr>
        </p:pic>
      </p:grpSp>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SPC Engine</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723549"/>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Reclaim your time and end the worry about correct SPCs on older content. The SPC engine automatically attaches the correct country and product SPC to each piece of content, keeping your library up-to-date and easy to navigate. Simple to set up and update as and when necessary - this ensures HCPs always have access to the latest SPC information.</a:t>
            </a:r>
            <a:br>
              <a:rPr lang="en-GB" sz="1200" dirty="0">
                <a:solidFill>
                  <a:srgbClr val="59748A"/>
                </a:solidFill>
                <a:latin typeface="Roboto" panose="02000000000000000000" pitchFamily="2" charset="0"/>
                <a:ea typeface="Roboto" panose="02000000000000000000" pitchFamily="2" charset="0"/>
              </a:rPr>
            </a:br>
            <a:br>
              <a:rPr lang="en-GB" sz="1200" dirty="0">
                <a:solidFill>
                  <a:srgbClr val="59748A"/>
                </a:solidFill>
                <a:latin typeface="Roboto" panose="02000000000000000000" pitchFamily="2" charset="0"/>
                <a:ea typeface="Roboto" panose="02000000000000000000" pitchFamily="2" charset="0"/>
              </a:rPr>
            </a:br>
            <a:r>
              <a:rPr lang="en-GB" sz="1200" dirty="0">
                <a:solidFill>
                  <a:srgbClr val="59748A"/>
                </a:solidFill>
                <a:latin typeface="Roboto" panose="02000000000000000000" pitchFamily="2" charset="0"/>
                <a:ea typeface="Roboto" panose="02000000000000000000" pitchFamily="2" charset="0"/>
              </a:rPr>
              <a:t>No more worry about compliance and superseded SPCs</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effectLst/>
                <a:latin typeface="Roboto" panose="02000000000000000000" pitchFamily="2" charset="0"/>
                <a:ea typeface="Roboto" panose="02000000000000000000" pitchFamily="2" charset="0"/>
                <a:cs typeface="Roboto" panose="02000000000000000000" pitchFamily="2" charset="0"/>
              </a:rPr>
              <a:t>SPC Engine</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954881" cy="2900794"/>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Automatically matches the correct SPC with the HCP’s country</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Continuously updated, giving you peace of mind for every account</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Feel secure that every HCP has the latest SPC for all of their content, old or new</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Takes only 5 minutes to update an SPC</a:t>
            </a:r>
          </a:p>
        </p:txBody>
      </p:sp>
      <p:pic>
        <p:nvPicPr>
          <p:cNvPr id="23" name="Picture 22" descr="A screenshot of a product list&#10;&#10;Description automatically generated">
            <a:extLst>
              <a:ext uri="{FF2B5EF4-FFF2-40B4-BE49-F238E27FC236}">
                <a16:creationId xmlns:a16="http://schemas.microsoft.com/office/drawing/2014/main" id="{18B70501-63B8-009D-56EE-BF627A9E36E0}"/>
              </a:ext>
            </a:extLst>
          </p:cNvPr>
          <p:cNvPicPr>
            <a:picLocks noChangeAspect="1"/>
          </p:cNvPicPr>
          <p:nvPr/>
        </p:nvPicPr>
        <p:blipFill>
          <a:blip r:embed="rId11"/>
          <a:stretch>
            <a:fillRect/>
          </a:stretch>
        </p:blipFill>
        <p:spPr>
          <a:xfrm>
            <a:off x="1740727" y="716195"/>
            <a:ext cx="4105444" cy="1843885"/>
          </a:xfrm>
          <a:prstGeom prst="rect">
            <a:avLst/>
          </a:prstGeom>
        </p:spPr>
      </p:pic>
      <p:pic>
        <p:nvPicPr>
          <p:cNvPr id="48" name="Graphic 47">
            <a:extLst>
              <a:ext uri="{FF2B5EF4-FFF2-40B4-BE49-F238E27FC236}">
                <a16:creationId xmlns:a16="http://schemas.microsoft.com/office/drawing/2014/main" id="{66F56C3E-AEB0-5F90-F443-03E849FB70B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6316" y="241547"/>
            <a:ext cx="320040" cy="320040"/>
          </a:xfrm>
          <a:prstGeom prst="rect">
            <a:avLst/>
          </a:prstGeom>
        </p:spPr>
      </p:pic>
    </p:spTree>
    <p:extLst>
      <p:ext uri="{BB962C8B-B14F-4D97-AF65-F5344CB8AC3E}">
        <p14:creationId xmlns:p14="http://schemas.microsoft.com/office/powerpoint/2010/main" val="31432019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7</cp:revision>
  <dcterms:created xsi:type="dcterms:W3CDTF">2013-07-15T20:26:40Z</dcterms:created>
  <dcterms:modified xsi:type="dcterms:W3CDTF">2023-10-17T11:48:07Z</dcterms:modified>
</cp:coreProperties>
</file>